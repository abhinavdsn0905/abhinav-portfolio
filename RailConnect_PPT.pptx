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2848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389120" cy="4389120"/>
          </a:xfrm>
          <a:prstGeom prst="ellipse">
            <a:avLst/>
          </a:prstGeom>
          <a:solidFill>
            <a:srgbClr val="1E3A8A">
              <a:alpha val="42000"/>
            </a:srgbClr>
          </a:solidFill>
          <a:ln w="12700">
            <a:solidFill>
              <a:srgbClr val="1E3A8A">
                <a:alpha val="42000"/>
              </a:srgbClr>
            </a:solidFill>
            <a:prstDash val="solid"/>
          </a:ln>
        </p:spPr>
      </p:sp>
      <p:sp>
        <p:nvSpPr>
          <p:cNvPr id="3" name="Shape 1"/>
          <p:cNvSpPr/>
          <p:nvPr/>
        </p:nvSpPr>
        <p:spPr>
          <a:xfrm>
            <a:off x="-1097280" y="2926080"/>
            <a:ext cx="3474720" cy="3474720"/>
          </a:xfrm>
          <a:prstGeom prst="ellipse">
            <a:avLst/>
          </a:prstGeom>
          <a:solidFill>
            <a:srgbClr val="1E3A8A">
              <a:alpha val="42000"/>
            </a:srgbClr>
          </a:solidFill>
          <a:ln w="12700">
            <a:solidFill>
              <a:srgbClr val="1E3A8A">
                <a:alpha val="42000"/>
              </a:srgbClr>
            </a:solidFill>
            <a:prstDash val="solid"/>
          </a:ln>
        </p:spPr>
      </p:sp>
      <p:sp>
        <p:nvSpPr>
          <p:cNvPr id="4" name="Shape 2"/>
          <p:cNvSpPr/>
          <p:nvPr/>
        </p:nvSpPr>
        <p:spPr>
          <a:xfrm>
            <a:off x="594360" y="960120"/>
            <a:ext cx="82296" cy="1600200"/>
          </a:xfrm>
          <a:prstGeom prst="rect">
            <a:avLst/>
          </a:prstGeom>
          <a:solidFill>
            <a:srgbClr val="F59E0B"/>
          </a:solidFill>
          <a:ln w="12700">
            <a:solidFill>
              <a:srgbClr val="F59E0B"/>
            </a:solidFill>
            <a:prstDash val="solid"/>
          </a:ln>
        </p:spPr>
      </p:sp>
      <p:sp>
        <p:nvSpPr>
          <p:cNvPr id="5" name="Text 3"/>
          <p:cNvSpPr/>
          <p:nvPr/>
        </p:nvSpPr>
        <p:spPr>
          <a:xfrm>
            <a:off x="868680" y="914400"/>
            <a:ext cx="7772400" cy="914400"/>
          </a:xfrm>
          <a:prstGeom prst="rect">
            <a:avLst/>
          </a:prstGeom>
          <a:noFill/>
          <a:ln/>
        </p:spPr>
        <p:txBody>
          <a:bodyPr wrap="square" lIns="0" tIns="0" rIns="0" bIns="0" rtlCol="0" anchor="ctr"/>
          <a:lstStyle/>
          <a:p>
            <a:pPr marL="0" indent="0">
              <a:buNone/>
            </a:pPr>
            <a:r>
              <a:rPr lang="en-US" sz="5400" b="1" kern="0" spc="400" dirty="0">
                <a:solidFill>
                  <a:srgbClr val="FFFFFF"/>
                </a:solidFill>
                <a:latin typeface="Calibri" pitchFamily="34" charset="0"/>
                <a:ea typeface="Calibri" pitchFamily="34" charset="-122"/>
                <a:cs typeface="Calibri" pitchFamily="34" charset="-120"/>
              </a:rPr>
              <a:t>RAILCONNECT</a:t>
            </a:r>
            <a:endParaRPr lang="en-US" sz="5400" dirty="0"/>
          </a:p>
        </p:txBody>
      </p:sp>
      <p:sp>
        <p:nvSpPr>
          <p:cNvPr id="6" name="Text 4"/>
          <p:cNvSpPr/>
          <p:nvPr/>
        </p:nvSpPr>
        <p:spPr>
          <a:xfrm>
            <a:off x="868680" y="1920240"/>
            <a:ext cx="7315200" cy="502920"/>
          </a:xfrm>
          <a:prstGeom prst="rect">
            <a:avLst/>
          </a:prstGeom>
          <a:noFill/>
          <a:ln/>
        </p:spPr>
        <p:txBody>
          <a:bodyPr wrap="square" lIns="0" tIns="0" rIns="0" bIns="0" rtlCol="0" anchor="ctr"/>
          <a:lstStyle/>
          <a:p>
            <a:pPr marL="0" indent="0">
              <a:buNone/>
            </a:pPr>
            <a:r>
              <a:rPr lang="en-US" sz="2200" i="1" dirty="0">
                <a:solidFill>
                  <a:srgbClr val="BFDBFE"/>
                </a:solidFill>
                <a:latin typeface="Calibri" pitchFamily="34" charset="0"/>
                <a:ea typeface="Calibri" pitchFamily="34" charset="-122"/>
                <a:cs typeface="Calibri" pitchFamily="34" charset="-120"/>
              </a:rPr>
              <a:t>Smart Train Reservation System</a:t>
            </a:r>
            <a:endParaRPr lang="en-US" sz="2200" dirty="0"/>
          </a:p>
        </p:txBody>
      </p:sp>
      <p:sp>
        <p:nvSpPr>
          <p:cNvPr id="7" name="Shape 5"/>
          <p:cNvSpPr/>
          <p:nvPr/>
        </p:nvSpPr>
        <p:spPr>
          <a:xfrm>
            <a:off x="868680" y="2578608"/>
            <a:ext cx="4754880" cy="45720"/>
          </a:xfrm>
          <a:prstGeom prst="rect">
            <a:avLst/>
          </a:prstGeom>
          <a:solidFill>
            <a:srgbClr val="F59E0B"/>
          </a:solidFill>
          <a:ln w="12700">
            <a:solidFill>
              <a:srgbClr val="F59E0B"/>
            </a:solidFill>
            <a:prstDash val="solid"/>
          </a:ln>
        </p:spPr>
      </p:sp>
      <p:sp>
        <p:nvSpPr>
          <p:cNvPr id="8" name="Text 6"/>
          <p:cNvSpPr/>
          <p:nvPr/>
        </p:nvSpPr>
        <p:spPr>
          <a:xfrm>
            <a:off x="868680" y="2743200"/>
            <a:ext cx="7315200" cy="411480"/>
          </a:xfrm>
          <a:prstGeom prst="rect">
            <a:avLst/>
          </a:prstGeom>
          <a:noFill/>
          <a:ln/>
        </p:spPr>
        <p:txBody>
          <a:bodyPr wrap="square" lIns="0" tIns="0" rIns="0" bIns="0" rtlCol="0" anchor="ctr"/>
          <a:lstStyle/>
          <a:p>
            <a:pPr marL="0" indent="0">
              <a:buNone/>
            </a:pPr>
            <a:endParaRPr lang="en-US" sz="1300" dirty="0"/>
          </a:p>
        </p:txBody>
      </p:sp>
      <p:sp>
        <p:nvSpPr>
          <p:cNvPr id="9" name="Shape 7"/>
          <p:cNvSpPr/>
          <p:nvPr/>
        </p:nvSpPr>
        <p:spPr>
          <a:xfrm>
            <a:off x="0" y="4617720"/>
            <a:ext cx="9144000" cy="525780"/>
          </a:xfrm>
          <a:prstGeom prst="rect">
            <a:avLst/>
          </a:prstGeom>
          <a:solidFill>
            <a:srgbClr val="111827"/>
          </a:solidFill>
          <a:ln w="12700">
            <a:solidFill>
              <a:srgbClr val="111827"/>
            </a:solidFill>
            <a:prstDash val="solid"/>
          </a:ln>
        </p:spPr>
      </p:sp>
      <p:sp>
        <p:nvSpPr>
          <p:cNvPr id="10" name="Text 8"/>
          <p:cNvSpPr/>
          <p:nvPr/>
        </p:nvSpPr>
        <p:spPr>
          <a:xfrm>
            <a:off x="0" y="4663440"/>
            <a:ext cx="9144000" cy="45720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Secure  ·  Efficient  ·  Scalable  ·  User-Friendly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Table of Contents</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A structured walkthrough of the RailConnect project</a:t>
            </a:r>
            <a:endParaRPr lang="en-US" sz="1150" dirty="0"/>
          </a:p>
        </p:txBody>
      </p:sp>
      <p:sp>
        <p:nvSpPr>
          <p:cNvPr id="5" name="Shape 3"/>
          <p:cNvSpPr/>
          <p:nvPr/>
        </p:nvSpPr>
        <p:spPr>
          <a:xfrm>
            <a:off x="320040" y="1143000"/>
            <a:ext cx="4206240" cy="438912"/>
          </a:xfrm>
          <a:prstGeom prst="rect">
            <a:avLst/>
          </a:prstGeom>
          <a:solidFill>
            <a:srgbClr val="FFFFFF"/>
          </a:solidFill>
          <a:ln w="12700">
            <a:solidFill>
              <a:srgbClr val="E2E8F0"/>
            </a:solidFill>
            <a:prstDash val="solid"/>
          </a:ln>
        </p:spPr>
      </p:sp>
      <p:sp>
        <p:nvSpPr>
          <p:cNvPr id="6" name="Shape 4"/>
          <p:cNvSpPr/>
          <p:nvPr/>
        </p:nvSpPr>
        <p:spPr>
          <a:xfrm>
            <a:off x="320040" y="1143000"/>
            <a:ext cx="502920" cy="438912"/>
          </a:xfrm>
          <a:prstGeom prst="rect">
            <a:avLst/>
          </a:prstGeom>
          <a:solidFill>
            <a:srgbClr val="1A2B5E"/>
          </a:solidFill>
          <a:ln w="12700">
            <a:solidFill>
              <a:srgbClr val="1A2B5E"/>
            </a:solidFill>
            <a:prstDash val="solid"/>
          </a:ln>
        </p:spPr>
      </p:sp>
      <p:sp>
        <p:nvSpPr>
          <p:cNvPr id="7" name="Text 5"/>
          <p:cNvSpPr/>
          <p:nvPr/>
        </p:nvSpPr>
        <p:spPr>
          <a:xfrm>
            <a:off x="320040" y="1143000"/>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914400" y="1179576"/>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Executive Summary</a:t>
            </a:r>
            <a:endParaRPr lang="en-US" sz="1100" dirty="0"/>
          </a:p>
        </p:txBody>
      </p:sp>
      <p:sp>
        <p:nvSpPr>
          <p:cNvPr id="9" name="Text 7"/>
          <p:cNvSpPr/>
          <p:nvPr/>
        </p:nvSpPr>
        <p:spPr>
          <a:xfrm>
            <a:off x="914400" y="1389888"/>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Goals and key outcomes</a:t>
            </a:r>
            <a:endParaRPr lang="en-US" sz="950" dirty="0"/>
          </a:p>
        </p:txBody>
      </p:sp>
      <p:sp>
        <p:nvSpPr>
          <p:cNvPr id="10" name="Shape 8"/>
          <p:cNvSpPr/>
          <p:nvPr/>
        </p:nvSpPr>
        <p:spPr>
          <a:xfrm>
            <a:off x="4800600" y="1143000"/>
            <a:ext cx="4206240" cy="438912"/>
          </a:xfrm>
          <a:prstGeom prst="rect">
            <a:avLst/>
          </a:prstGeom>
          <a:solidFill>
            <a:srgbClr val="FFFFFF"/>
          </a:solidFill>
          <a:ln w="12700">
            <a:solidFill>
              <a:srgbClr val="E2E8F0"/>
            </a:solidFill>
            <a:prstDash val="solid"/>
          </a:ln>
        </p:spPr>
      </p:sp>
      <p:sp>
        <p:nvSpPr>
          <p:cNvPr id="11" name="Shape 9"/>
          <p:cNvSpPr/>
          <p:nvPr/>
        </p:nvSpPr>
        <p:spPr>
          <a:xfrm>
            <a:off x="4800600" y="1143000"/>
            <a:ext cx="502920" cy="438912"/>
          </a:xfrm>
          <a:prstGeom prst="rect">
            <a:avLst/>
          </a:prstGeom>
          <a:solidFill>
            <a:srgbClr val="2563EB"/>
          </a:solidFill>
          <a:ln w="12700">
            <a:solidFill>
              <a:srgbClr val="2563EB"/>
            </a:solidFill>
            <a:prstDash val="solid"/>
          </a:ln>
        </p:spPr>
      </p:sp>
      <p:sp>
        <p:nvSpPr>
          <p:cNvPr id="12" name="Text 10"/>
          <p:cNvSpPr/>
          <p:nvPr/>
        </p:nvSpPr>
        <p:spPr>
          <a:xfrm>
            <a:off x="4800600" y="1143000"/>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5394960" y="1179576"/>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Introduction &amp; Problem</a:t>
            </a:r>
            <a:endParaRPr lang="en-US" sz="1100" dirty="0"/>
          </a:p>
        </p:txBody>
      </p:sp>
      <p:sp>
        <p:nvSpPr>
          <p:cNvPr id="14" name="Text 12"/>
          <p:cNvSpPr/>
          <p:nvPr/>
        </p:nvSpPr>
        <p:spPr>
          <a:xfrm>
            <a:off x="5394960" y="1389888"/>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Why digital booking matters</a:t>
            </a:r>
            <a:endParaRPr lang="en-US" sz="950" dirty="0"/>
          </a:p>
        </p:txBody>
      </p:sp>
      <p:sp>
        <p:nvSpPr>
          <p:cNvPr id="15" name="Shape 13"/>
          <p:cNvSpPr/>
          <p:nvPr/>
        </p:nvSpPr>
        <p:spPr>
          <a:xfrm>
            <a:off x="320040" y="1655064"/>
            <a:ext cx="4206240" cy="438912"/>
          </a:xfrm>
          <a:prstGeom prst="rect">
            <a:avLst/>
          </a:prstGeom>
          <a:solidFill>
            <a:srgbClr val="FFFFFF"/>
          </a:solidFill>
          <a:ln w="12700">
            <a:solidFill>
              <a:srgbClr val="E2E8F0"/>
            </a:solidFill>
            <a:prstDash val="solid"/>
          </a:ln>
        </p:spPr>
      </p:sp>
      <p:sp>
        <p:nvSpPr>
          <p:cNvPr id="16" name="Shape 14"/>
          <p:cNvSpPr/>
          <p:nvPr/>
        </p:nvSpPr>
        <p:spPr>
          <a:xfrm>
            <a:off x="320040" y="1655064"/>
            <a:ext cx="502920" cy="438912"/>
          </a:xfrm>
          <a:prstGeom prst="rect">
            <a:avLst/>
          </a:prstGeom>
          <a:solidFill>
            <a:srgbClr val="1A2B5E"/>
          </a:solidFill>
          <a:ln w="12700">
            <a:solidFill>
              <a:srgbClr val="1A2B5E"/>
            </a:solidFill>
            <a:prstDash val="solid"/>
          </a:ln>
        </p:spPr>
      </p:sp>
      <p:sp>
        <p:nvSpPr>
          <p:cNvPr id="17" name="Text 15"/>
          <p:cNvSpPr/>
          <p:nvPr/>
        </p:nvSpPr>
        <p:spPr>
          <a:xfrm>
            <a:off x="320040" y="1655064"/>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914400" y="1691640"/>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System Architecture</a:t>
            </a:r>
            <a:endParaRPr lang="en-US" sz="1100" dirty="0"/>
          </a:p>
        </p:txBody>
      </p:sp>
      <p:sp>
        <p:nvSpPr>
          <p:cNvPr id="19" name="Text 17"/>
          <p:cNvSpPr/>
          <p:nvPr/>
        </p:nvSpPr>
        <p:spPr>
          <a:xfrm>
            <a:off x="914400" y="1901952"/>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Three-tier design overview</a:t>
            </a:r>
            <a:endParaRPr lang="en-US" sz="950" dirty="0"/>
          </a:p>
        </p:txBody>
      </p:sp>
      <p:sp>
        <p:nvSpPr>
          <p:cNvPr id="20" name="Shape 18"/>
          <p:cNvSpPr/>
          <p:nvPr/>
        </p:nvSpPr>
        <p:spPr>
          <a:xfrm>
            <a:off x="4800600" y="1655064"/>
            <a:ext cx="4206240" cy="438912"/>
          </a:xfrm>
          <a:prstGeom prst="rect">
            <a:avLst/>
          </a:prstGeom>
          <a:solidFill>
            <a:srgbClr val="FFFFFF"/>
          </a:solidFill>
          <a:ln w="12700">
            <a:solidFill>
              <a:srgbClr val="E2E8F0"/>
            </a:solidFill>
            <a:prstDash val="solid"/>
          </a:ln>
        </p:spPr>
      </p:sp>
      <p:sp>
        <p:nvSpPr>
          <p:cNvPr id="21" name="Shape 19"/>
          <p:cNvSpPr/>
          <p:nvPr/>
        </p:nvSpPr>
        <p:spPr>
          <a:xfrm>
            <a:off x="4800600" y="1655064"/>
            <a:ext cx="502920" cy="438912"/>
          </a:xfrm>
          <a:prstGeom prst="rect">
            <a:avLst/>
          </a:prstGeom>
          <a:solidFill>
            <a:srgbClr val="2563EB"/>
          </a:solidFill>
          <a:ln w="12700">
            <a:solidFill>
              <a:srgbClr val="2563EB"/>
            </a:solidFill>
            <a:prstDash val="solid"/>
          </a:ln>
        </p:spPr>
      </p:sp>
      <p:sp>
        <p:nvSpPr>
          <p:cNvPr id="22" name="Text 20"/>
          <p:cNvSpPr/>
          <p:nvPr/>
        </p:nvSpPr>
        <p:spPr>
          <a:xfrm>
            <a:off x="4800600" y="1655064"/>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5394960" y="1691640"/>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User Module</a:t>
            </a:r>
            <a:endParaRPr lang="en-US" sz="1100" dirty="0"/>
          </a:p>
        </p:txBody>
      </p:sp>
      <p:sp>
        <p:nvSpPr>
          <p:cNvPr id="24" name="Text 22"/>
          <p:cNvSpPr/>
          <p:nvPr/>
        </p:nvSpPr>
        <p:spPr>
          <a:xfrm>
            <a:off x="5394960" y="1901952"/>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Registration, login &amp; features</a:t>
            </a:r>
            <a:endParaRPr lang="en-US" sz="950" dirty="0"/>
          </a:p>
        </p:txBody>
      </p:sp>
      <p:sp>
        <p:nvSpPr>
          <p:cNvPr id="25" name="Shape 23"/>
          <p:cNvSpPr/>
          <p:nvPr/>
        </p:nvSpPr>
        <p:spPr>
          <a:xfrm>
            <a:off x="320040" y="2167128"/>
            <a:ext cx="4206240" cy="438912"/>
          </a:xfrm>
          <a:prstGeom prst="rect">
            <a:avLst/>
          </a:prstGeom>
          <a:solidFill>
            <a:srgbClr val="FFFFFF"/>
          </a:solidFill>
          <a:ln w="12700">
            <a:solidFill>
              <a:srgbClr val="E2E8F0"/>
            </a:solidFill>
            <a:prstDash val="solid"/>
          </a:ln>
        </p:spPr>
      </p:sp>
      <p:sp>
        <p:nvSpPr>
          <p:cNvPr id="26" name="Shape 24"/>
          <p:cNvSpPr/>
          <p:nvPr/>
        </p:nvSpPr>
        <p:spPr>
          <a:xfrm>
            <a:off x="320040" y="2167128"/>
            <a:ext cx="502920" cy="438912"/>
          </a:xfrm>
          <a:prstGeom prst="rect">
            <a:avLst/>
          </a:prstGeom>
          <a:solidFill>
            <a:srgbClr val="1A2B5E"/>
          </a:solidFill>
          <a:ln w="12700">
            <a:solidFill>
              <a:srgbClr val="1A2B5E"/>
            </a:solidFill>
            <a:prstDash val="solid"/>
          </a:ln>
        </p:spPr>
      </p:sp>
      <p:sp>
        <p:nvSpPr>
          <p:cNvPr id="27" name="Text 25"/>
          <p:cNvSpPr/>
          <p:nvPr/>
        </p:nvSpPr>
        <p:spPr>
          <a:xfrm>
            <a:off x="320040" y="2167128"/>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8" name="Text 26"/>
          <p:cNvSpPr/>
          <p:nvPr/>
        </p:nvSpPr>
        <p:spPr>
          <a:xfrm>
            <a:off x="914400" y="2203704"/>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Booking Module – Part 1</a:t>
            </a:r>
            <a:endParaRPr lang="en-US" sz="1100" dirty="0"/>
          </a:p>
        </p:txBody>
      </p:sp>
      <p:sp>
        <p:nvSpPr>
          <p:cNvPr id="29" name="Text 27"/>
          <p:cNvSpPr/>
          <p:nvPr/>
        </p:nvSpPr>
        <p:spPr>
          <a:xfrm>
            <a:off x="914400" y="2414016"/>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Listing, forms &amp; validation</a:t>
            </a:r>
            <a:endParaRPr lang="en-US" sz="950" dirty="0"/>
          </a:p>
        </p:txBody>
      </p:sp>
      <p:sp>
        <p:nvSpPr>
          <p:cNvPr id="30" name="Shape 28"/>
          <p:cNvSpPr/>
          <p:nvPr/>
        </p:nvSpPr>
        <p:spPr>
          <a:xfrm>
            <a:off x="4800600" y="2167128"/>
            <a:ext cx="4206240" cy="438912"/>
          </a:xfrm>
          <a:prstGeom prst="rect">
            <a:avLst/>
          </a:prstGeom>
          <a:solidFill>
            <a:srgbClr val="FFFFFF"/>
          </a:solidFill>
          <a:ln w="12700">
            <a:solidFill>
              <a:srgbClr val="E2E8F0"/>
            </a:solidFill>
            <a:prstDash val="solid"/>
          </a:ln>
        </p:spPr>
      </p:sp>
      <p:sp>
        <p:nvSpPr>
          <p:cNvPr id="31" name="Shape 29"/>
          <p:cNvSpPr/>
          <p:nvPr/>
        </p:nvSpPr>
        <p:spPr>
          <a:xfrm>
            <a:off x="4800600" y="2167128"/>
            <a:ext cx="502920" cy="438912"/>
          </a:xfrm>
          <a:prstGeom prst="rect">
            <a:avLst/>
          </a:prstGeom>
          <a:solidFill>
            <a:srgbClr val="2563EB"/>
          </a:solidFill>
          <a:ln w="12700">
            <a:solidFill>
              <a:srgbClr val="2563EB"/>
            </a:solidFill>
            <a:prstDash val="solid"/>
          </a:ln>
        </p:spPr>
      </p:sp>
      <p:sp>
        <p:nvSpPr>
          <p:cNvPr id="32" name="Text 30"/>
          <p:cNvSpPr/>
          <p:nvPr/>
        </p:nvSpPr>
        <p:spPr>
          <a:xfrm>
            <a:off x="4800600" y="2167128"/>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3" name="Text 31"/>
          <p:cNvSpPr/>
          <p:nvPr/>
        </p:nvSpPr>
        <p:spPr>
          <a:xfrm>
            <a:off x="5394960" y="2203704"/>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Booking Module – Part 2</a:t>
            </a:r>
            <a:endParaRPr lang="en-US" sz="1100" dirty="0"/>
          </a:p>
        </p:txBody>
      </p:sp>
      <p:sp>
        <p:nvSpPr>
          <p:cNvPr id="34" name="Text 32"/>
          <p:cNvSpPr/>
          <p:nvPr/>
        </p:nvSpPr>
        <p:spPr>
          <a:xfrm>
            <a:off x="5394960" y="2414016"/>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Seats, PNR, summary &amp; email</a:t>
            </a:r>
            <a:endParaRPr lang="en-US" sz="950" dirty="0"/>
          </a:p>
        </p:txBody>
      </p:sp>
      <p:sp>
        <p:nvSpPr>
          <p:cNvPr id="35" name="Shape 33"/>
          <p:cNvSpPr/>
          <p:nvPr/>
        </p:nvSpPr>
        <p:spPr>
          <a:xfrm>
            <a:off x="320040" y="2679192"/>
            <a:ext cx="4206240" cy="438912"/>
          </a:xfrm>
          <a:prstGeom prst="rect">
            <a:avLst/>
          </a:prstGeom>
          <a:solidFill>
            <a:srgbClr val="FFFFFF"/>
          </a:solidFill>
          <a:ln w="12700">
            <a:solidFill>
              <a:srgbClr val="E2E8F0"/>
            </a:solidFill>
            <a:prstDash val="solid"/>
          </a:ln>
        </p:spPr>
      </p:sp>
      <p:sp>
        <p:nvSpPr>
          <p:cNvPr id="36" name="Shape 34"/>
          <p:cNvSpPr/>
          <p:nvPr/>
        </p:nvSpPr>
        <p:spPr>
          <a:xfrm>
            <a:off x="320040" y="2679192"/>
            <a:ext cx="502920" cy="438912"/>
          </a:xfrm>
          <a:prstGeom prst="rect">
            <a:avLst/>
          </a:prstGeom>
          <a:solidFill>
            <a:srgbClr val="1A2B5E"/>
          </a:solidFill>
          <a:ln w="12700">
            <a:solidFill>
              <a:srgbClr val="1A2B5E"/>
            </a:solidFill>
            <a:prstDash val="solid"/>
          </a:ln>
        </p:spPr>
      </p:sp>
      <p:sp>
        <p:nvSpPr>
          <p:cNvPr id="37" name="Text 35"/>
          <p:cNvSpPr/>
          <p:nvPr/>
        </p:nvSpPr>
        <p:spPr>
          <a:xfrm>
            <a:off x="320040" y="2679192"/>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8" name="Text 36"/>
          <p:cNvSpPr/>
          <p:nvPr/>
        </p:nvSpPr>
        <p:spPr>
          <a:xfrm>
            <a:off x="914400" y="2715768"/>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My Bookings &amp; Cancellation</a:t>
            </a:r>
            <a:endParaRPr lang="en-US" sz="1100" dirty="0"/>
          </a:p>
        </p:txBody>
      </p:sp>
      <p:sp>
        <p:nvSpPr>
          <p:cNvPr id="39" name="Text 37"/>
          <p:cNvSpPr/>
          <p:nvPr/>
        </p:nvSpPr>
        <p:spPr>
          <a:xfrm>
            <a:off x="914400" y="2926080"/>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Managing reservations</a:t>
            </a:r>
            <a:endParaRPr lang="en-US" sz="950" dirty="0"/>
          </a:p>
        </p:txBody>
      </p:sp>
      <p:sp>
        <p:nvSpPr>
          <p:cNvPr id="40" name="Shape 38"/>
          <p:cNvSpPr/>
          <p:nvPr/>
        </p:nvSpPr>
        <p:spPr>
          <a:xfrm>
            <a:off x="4800600" y="2679192"/>
            <a:ext cx="4206240" cy="438912"/>
          </a:xfrm>
          <a:prstGeom prst="rect">
            <a:avLst/>
          </a:prstGeom>
          <a:solidFill>
            <a:srgbClr val="FFFFFF"/>
          </a:solidFill>
          <a:ln w="12700">
            <a:solidFill>
              <a:srgbClr val="E2E8F0"/>
            </a:solidFill>
            <a:prstDash val="solid"/>
          </a:ln>
        </p:spPr>
      </p:sp>
      <p:sp>
        <p:nvSpPr>
          <p:cNvPr id="41" name="Shape 39"/>
          <p:cNvSpPr/>
          <p:nvPr/>
        </p:nvSpPr>
        <p:spPr>
          <a:xfrm>
            <a:off x="4800600" y="2679192"/>
            <a:ext cx="502920" cy="438912"/>
          </a:xfrm>
          <a:prstGeom prst="rect">
            <a:avLst/>
          </a:prstGeom>
          <a:solidFill>
            <a:srgbClr val="2563EB"/>
          </a:solidFill>
          <a:ln w="12700">
            <a:solidFill>
              <a:srgbClr val="2563EB"/>
            </a:solidFill>
            <a:prstDash val="solid"/>
          </a:ln>
        </p:spPr>
      </p:sp>
      <p:sp>
        <p:nvSpPr>
          <p:cNvPr id="42" name="Text 40"/>
          <p:cNvSpPr/>
          <p:nvPr/>
        </p:nvSpPr>
        <p:spPr>
          <a:xfrm>
            <a:off x="4800600" y="2679192"/>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43" name="Text 41"/>
          <p:cNvSpPr/>
          <p:nvPr/>
        </p:nvSpPr>
        <p:spPr>
          <a:xfrm>
            <a:off x="5394960" y="2715768"/>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Admin Module – Overview</a:t>
            </a:r>
            <a:endParaRPr lang="en-US" sz="1100" dirty="0"/>
          </a:p>
        </p:txBody>
      </p:sp>
      <p:sp>
        <p:nvSpPr>
          <p:cNvPr id="44" name="Text 42"/>
          <p:cNvSpPr/>
          <p:nvPr/>
        </p:nvSpPr>
        <p:spPr>
          <a:xfrm>
            <a:off x="5394960" y="2926080"/>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Dashboard &amp; authentication</a:t>
            </a:r>
            <a:endParaRPr lang="en-US" sz="950" dirty="0"/>
          </a:p>
        </p:txBody>
      </p:sp>
      <p:sp>
        <p:nvSpPr>
          <p:cNvPr id="45" name="Shape 43"/>
          <p:cNvSpPr/>
          <p:nvPr/>
        </p:nvSpPr>
        <p:spPr>
          <a:xfrm>
            <a:off x="320040" y="3191256"/>
            <a:ext cx="4206240" cy="438912"/>
          </a:xfrm>
          <a:prstGeom prst="rect">
            <a:avLst/>
          </a:prstGeom>
          <a:solidFill>
            <a:srgbClr val="FFFFFF"/>
          </a:solidFill>
          <a:ln w="12700">
            <a:solidFill>
              <a:srgbClr val="E2E8F0"/>
            </a:solidFill>
            <a:prstDash val="solid"/>
          </a:ln>
        </p:spPr>
      </p:sp>
      <p:sp>
        <p:nvSpPr>
          <p:cNvPr id="46" name="Shape 44"/>
          <p:cNvSpPr/>
          <p:nvPr/>
        </p:nvSpPr>
        <p:spPr>
          <a:xfrm>
            <a:off x="320040" y="3191256"/>
            <a:ext cx="502920" cy="438912"/>
          </a:xfrm>
          <a:prstGeom prst="rect">
            <a:avLst/>
          </a:prstGeom>
          <a:solidFill>
            <a:srgbClr val="1A2B5E"/>
          </a:solidFill>
          <a:ln w="12700">
            <a:solidFill>
              <a:srgbClr val="1A2B5E"/>
            </a:solidFill>
            <a:prstDash val="solid"/>
          </a:ln>
        </p:spPr>
      </p:sp>
      <p:sp>
        <p:nvSpPr>
          <p:cNvPr id="47" name="Text 45"/>
          <p:cNvSpPr/>
          <p:nvPr/>
        </p:nvSpPr>
        <p:spPr>
          <a:xfrm>
            <a:off x="320040" y="3191256"/>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48" name="Text 46"/>
          <p:cNvSpPr/>
          <p:nvPr/>
        </p:nvSpPr>
        <p:spPr>
          <a:xfrm>
            <a:off x="914400" y="3227832"/>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Admin Module – Management</a:t>
            </a:r>
            <a:endParaRPr lang="en-US" sz="1100" dirty="0"/>
          </a:p>
        </p:txBody>
      </p:sp>
      <p:sp>
        <p:nvSpPr>
          <p:cNvPr id="49" name="Text 47"/>
          <p:cNvSpPr/>
          <p:nvPr/>
        </p:nvSpPr>
        <p:spPr>
          <a:xfrm>
            <a:off x="914400" y="3438144"/>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Train, user &amp; booking control</a:t>
            </a:r>
            <a:endParaRPr lang="en-US" sz="950" dirty="0"/>
          </a:p>
        </p:txBody>
      </p:sp>
      <p:sp>
        <p:nvSpPr>
          <p:cNvPr id="50" name="Shape 48"/>
          <p:cNvSpPr/>
          <p:nvPr/>
        </p:nvSpPr>
        <p:spPr>
          <a:xfrm>
            <a:off x="4800600" y="3191256"/>
            <a:ext cx="4206240" cy="438912"/>
          </a:xfrm>
          <a:prstGeom prst="rect">
            <a:avLst/>
          </a:prstGeom>
          <a:solidFill>
            <a:srgbClr val="FFFFFF"/>
          </a:solidFill>
          <a:ln w="12700">
            <a:solidFill>
              <a:srgbClr val="E2E8F0"/>
            </a:solidFill>
            <a:prstDash val="solid"/>
          </a:ln>
        </p:spPr>
      </p:sp>
      <p:sp>
        <p:nvSpPr>
          <p:cNvPr id="51" name="Shape 49"/>
          <p:cNvSpPr/>
          <p:nvPr/>
        </p:nvSpPr>
        <p:spPr>
          <a:xfrm>
            <a:off x="4800600" y="3191256"/>
            <a:ext cx="502920" cy="438912"/>
          </a:xfrm>
          <a:prstGeom prst="rect">
            <a:avLst/>
          </a:prstGeom>
          <a:solidFill>
            <a:srgbClr val="2563EB"/>
          </a:solidFill>
          <a:ln w="12700">
            <a:solidFill>
              <a:srgbClr val="2563EB"/>
            </a:solidFill>
            <a:prstDash val="solid"/>
          </a:ln>
        </p:spPr>
      </p:sp>
      <p:sp>
        <p:nvSpPr>
          <p:cNvPr id="52" name="Text 50"/>
          <p:cNvSpPr/>
          <p:nvPr/>
        </p:nvSpPr>
        <p:spPr>
          <a:xfrm>
            <a:off x="4800600" y="3191256"/>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3" name="Text 51"/>
          <p:cNvSpPr/>
          <p:nvPr/>
        </p:nvSpPr>
        <p:spPr>
          <a:xfrm>
            <a:off x="5394960" y="3227832"/>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Security Considerations</a:t>
            </a:r>
            <a:endParaRPr lang="en-US" sz="1100" dirty="0"/>
          </a:p>
        </p:txBody>
      </p:sp>
      <p:sp>
        <p:nvSpPr>
          <p:cNvPr id="54" name="Text 52"/>
          <p:cNvSpPr/>
          <p:nvPr/>
        </p:nvSpPr>
        <p:spPr>
          <a:xfrm>
            <a:off x="5394960" y="3438144"/>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Multi-layer protection</a:t>
            </a:r>
            <a:endParaRPr lang="en-US" sz="950" dirty="0"/>
          </a:p>
        </p:txBody>
      </p:sp>
      <p:sp>
        <p:nvSpPr>
          <p:cNvPr id="55" name="Shape 53"/>
          <p:cNvSpPr/>
          <p:nvPr/>
        </p:nvSpPr>
        <p:spPr>
          <a:xfrm>
            <a:off x="320040" y="3703320"/>
            <a:ext cx="4206240" cy="438912"/>
          </a:xfrm>
          <a:prstGeom prst="rect">
            <a:avLst/>
          </a:prstGeom>
          <a:solidFill>
            <a:srgbClr val="FFFFFF"/>
          </a:solidFill>
          <a:ln w="12700">
            <a:solidFill>
              <a:srgbClr val="E2E8F0"/>
            </a:solidFill>
            <a:prstDash val="solid"/>
          </a:ln>
        </p:spPr>
      </p:sp>
      <p:sp>
        <p:nvSpPr>
          <p:cNvPr id="56" name="Shape 54"/>
          <p:cNvSpPr/>
          <p:nvPr/>
        </p:nvSpPr>
        <p:spPr>
          <a:xfrm>
            <a:off x="320040" y="3703320"/>
            <a:ext cx="502920" cy="438912"/>
          </a:xfrm>
          <a:prstGeom prst="rect">
            <a:avLst/>
          </a:prstGeom>
          <a:solidFill>
            <a:srgbClr val="1A2B5E"/>
          </a:solidFill>
          <a:ln w="12700">
            <a:solidFill>
              <a:srgbClr val="1A2B5E"/>
            </a:solidFill>
            <a:prstDash val="solid"/>
          </a:ln>
        </p:spPr>
      </p:sp>
      <p:sp>
        <p:nvSpPr>
          <p:cNvPr id="57" name="Text 55"/>
          <p:cNvSpPr/>
          <p:nvPr/>
        </p:nvSpPr>
        <p:spPr>
          <a:xfrm>
            <a:off x="320040" y="3703320"/>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58" name="Text 56"/>
          <p:cNvSpPr/>
          <p:nvPr/>
        </p:nvSpPr>
        <p:spPr>
          <a:xfrm>
            <a:off x="914400" y="3739896"/>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Technology Stack</a:t>
            </a:r>
            <a:endParaRPr lang="en-US" sz="1100" dirty="0"/>
          </a:p>
        </p:txBody>
      </p:sp>
      <p:sp>
        <p:nvSpPr>
          <p:cNvPr id="59" name="Text 57"/>
          <p:cNvSpPr/>
          <p:nvPr/>
        </p:nvSpPr>
        <p:spPr>
          <a:xfrm>
            <a:off x="914400" y="3950208"/>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Languages, frameworks &amp; tools</a:t>
            </a:r>
            <a:endParaRPr lang="en-US" sz="950" dirty="0"/>
          </a:p>
        </p:txBody>
      </p:sp>
      <p:sp>
        <p:nvSpPr>
          <p:cNvPr id="60" name="Shape 58"/>
          <p:cNvSpPr/>
          <p:nvPr/>
        </p:nvSpPr>
        <p:spPr>
          <a:xfrm>
            <a:off x="4800600" y="3703320"/>
            <a:ext cx="4206240" cy="438912"/>
          </a:xfrm>
          <a:prstGeom prst="rect">
            <a:avLst/>
          </a:prstGeom>
          <a:solidFill>
            <a:srgbClr val="FFFFFF"/>
          </a:solidFill>
          <a:ln w="12700">
            <a:solidFill>
              <a:srgbClr val="E2E8F0"/>
            </a:solidFill>
            <a:prstDash val="solid"/>
          </a:ln>
        </p:spPr>
      </p:sp>
      <p:sp>
        <p:nvSpPr>
          <p:cNvPr id="61" name="Shape 59"/>
          <p:cNvSpPr/>
          <p:nvPr/>
        </p:nvSpPr>
        <p:spPr>
          <a:xfrm>
            <a:off x="4800600" y="3703320"/>
            <a:ext cx="502920" cy="438912"/>
          </a:xfrm>
          <a:prstGeom prst="rect">
            <a:avLst/>
          </a:prstGeom>
          <a:solidFill>
            <a:srgbClr val="2563EB"/>
          </a:solidFill>
          <a:ln w="12700">
            <a:solidFill>
              <a:srgbClr val="2563EB"/>
            </a:solidFill>
            <a:prstDash val="solid"/>
          </a:ln>
        </p:spPr>
      </p:sp>
      <p:sp>
        <p:nvSpPr>
          <p:cNvPr id="62" name="Text 60"/>
          <p:cNvSpPr/>
          <p:nvPr/>
        </p:nvSpPr>
        <p:spPr>
          <a:xfrm>
            <a:off x="4800600" y="3703320"/>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63" name="Text 61"/>
          <p:cNvSpPr/>
          <p:nvPr/>
        </p:nvSpPr>
        <p:spPr>
          <a:xfrm>
            <a:off x="5394960" y="3739896"/>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System Flow Diagram</a:t>
            </a:r>
            <a:endParaRPr lang="en-US" sz="1100" dirty="0"/>
          </a:p>
        </p:txBody>
      </p:sp>
      <p:sp>
        <p:nvSpPr>
          <p:cNvPr id="64" name="Text 62"/>
          <p:cNvSpPr/>
          <p:nvPr/>
        </p:nvSpPr>
        <p:spPr>
          <a:xfrm>
            <a:off x="5394960" y="3950208"/>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End-to-end booking process</a:t>
            </a:r>
            <a:endParaRPr lang="en-US" sz="950" dirty="0"/>
          </a:p>
        </p:txBody>
      </p:sp>
      <p:sp>
        <p:nvSpPr>
          <p:cNvPr id="65" name="Shape 63"/>
          <p:cNvSpPr/>
          <p:nvPr/>
        </p:nvSpPr>
        <p:spPr>
          <a:xfrm>
            <a:off x="320040" y="4215384"/>
            <a:ext cx="4206240" cy="438912"/>
          </a:xfrm>
          <a:prstGeom prst="rect">
            <a:avLst/>
          </a:prstGeom>
          <a:solidFill>
            <a:srgbClr val="FFFFFF"/>
          </a:solidFill>
          <a:ln w="12700">
            <a:solidFill>
              <a:srgbClr val="E2E8F0"/>
            </a:solidFill>
            <a:prstDash val="solid"/>
          </a:ln>
        </p:spPr>
      </p:sp>
      <p:sp>
        <p:nvSpPr>
          <p:cNvPr id="66" name="Shape 64"/>
          <p:cNvSpPr/>
          <p:nvPr/>
        </p:nvSpPr>
        <p:spPr>
          <a:xfrm>
            <a:off x="320040" y="4215384"/>
            <a:ext cx="502920" cy="438912"/>
          </a:xfrm>
          <a:prstGeom prst="rect">
            <a:avLst/>
          </a:prstGeom>
          <a:solidFill>
            <a:srgbClr val="1A2B5E"/>
          </a:solidFill>
          <a:ln w="12700">
            <a:solidFill>
              <a:srgbClr val="1A2B5E"/>
            </a:solidFill>
            <a:prstDash val="solid"/>
          </a:ln>
        </p:spPr>
      </p:sp>
      <p:sp>
        <p:nvSpPr>
          <p:cNvPr id="67" name="Text 65"/>
          <p:cNvSpPr/>
          <p:nvPr/>
        </p:nvSpPr>
        <p:spPr>
          <a:xfrm>
            <a:off x="320040" y="4215384"/>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68" name="Text 66"/>
          <p:cNvSpPr/>
          <p:nvPr/>
        </p:nvSpPr>
        <p:spPr>
          <a:xfrm>
            <a:off x="914400" y="4251960"/>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Future Enhancements</a:t>
            </a:r>
            <a:endParaRPr lang="en-US" sz="1100" dirty="0"/>
          </a:p>
        </p:txBody>
      </p:sp>
      <p:sp>
        <p:nvSpPr>
          <p:cNvPr id="69" name="Text 67"/>
          <p:cNvSpPr/>
          <p:nvPr/>
        </p:nvSpPr>
        <p:spPr>
          <a:xfrm>
            <a:off x="914400" y="4462272"/>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Planned extensions &amp; upgrades</a:t>
            </a:r>
            <a:endParaRPr lang="en-US" sz="950" dirty="0"/>
          </a:p>
        </p:txBody>
      </p:sp>
      <p:sp>
        <p:nvSpPr>
          <p:cNvPr id="70" name="Shape 68"/>
          <p:cNvSpPr/>
          <p:nvPr/>
        </p:nvSpPr>
        <p:spPr>
          <a:xfrm>
            <a:off x="4800600" y="4215384"/>
            <a:ext cx="4206240" cy="438912"/>
          </a:xfrm>
          <a:prstGeom prst="rect">
            <a:avLst/>
          </a:prstGeom>
          <a:solidFill>
            <a:srgbClr val="FFFFFF"/>
          </a:solidFill>
          <a:ln w="12700">
            <a:solidFill>
              <a:srgbClr val="E2E8F0"/>
            </a:solidFill>
            <a:prstDash val="solid"/>
          </a:ln>
        </p:spPr>
      </p:sp>
      <p:sp>
        <p:nvSpPr>
          <p:cNvPr id="71" name="Shape 69"/>
          <p:cNvSpPr/>
          <p:nvPr/>
        </p:nvSpPr>
        <p:spPr>
          <a:xfrm>
            <a:off x="4800600" y="4215384"/>
            <a:ext cx="502920" cy="438912"/>
          </a:xfrm>
          <a:prstGeom prst="rect">
            <a:avLst/>
          </a:prstGeom>
          <a:solidFill>
            <a:srgbClr val="2563EB"/>
          </a:solidFill>
          <a:ln w="12700">
            <a:solidFill>
              <a:srgbClr val="2563EB"/>
            </a:solidFill>
            <a:prstDash val="solid"/>
          </a:ln>
        </p:spPr>
      </p:sp>
      <p:sp>
        <p:nvSpPr>
          <p:cNvPr id="72" name="Text 70"/>
          <p:cNvSpPr/>
          <p:nvPr/>
        </p:nvSpPr>
        <p:spPr>
          <a:xfrm>
            <a:off x="4800600" y="4215384"/>
            <a:ext cx="5029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73" name="Text 71"/>
          <p:cNvSpPr/>
          <p:nvPr/>
        </p:nvSpPr>
        <p:spPr>
          <a:xfrm>
            <a:off x="5394960" y="4251960"/>
            <a:ext cx="2286000" cy="219456"/>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Conclusion</a:t>
            </a:r>
            <a:endParaRPr lang="en-US" sz="1100" dirty="0"/>
          </a:p>
        </p:txBody>
      </p:sp>
      <p:sp>
        <p:nvSpPr>
          <p:cNvPr id="74" name="Text 72"/>
          <p:cNvSpPr/>
          <p:nvPr/>
        </p:nvSpPr>
        <p:spPr>
          <a:xfrm>
            <a:off x="5394960" y="4462272"/>
            <a:ext cx="3474720" cy="1828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Key takeaways and results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Executive Summary</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What RailConnect is and what it achieves</a:t>
            </a:r>
            <a:endParaRPr lang="en-US" sz="1150" dirty="0"/>
          </a:p>
        </p:txBody>
      </p:sp>
      <p:sp>
        <p:nvSpPr>
          <p:cNvPr id="5" name="Text 3"/>
          <p:cNvSpPr/>
          <p:nvPr/>
        </p:nvSpPr>
        <p:spPr>
          <a:xfrm>
            <a:off x="411480" y="1143000"/>
            <a:ext cx="8321040" cy="86868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RailConnect is a web-based Smart Train Reservation System developed with Django. It delivers a secure, efficient, and user-friendly platform where passengers can search trains, book tickets, manage reservations, and receive automated email confirmations — all in one place.</a:t>
            </a:r>
            <a:endParaRPr lang="en-US" sz="1250" dirty="0"/>
          </a:p>
        </p:txBody>
      </p:sp>
      <p:sp>
        <p:nvSpPr>
          <p:cNvPr id="6" name="Shape 4"/>
          <p:cNvSpPr/>
          <p:nvPr/>
        </p:nvSpPr>
        <p:spPr>
          <a:xfrm>
            <a:off x="411480" y="2176272"/>
            <a:ext cx="1920240" cy="96012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sp>
      <p:sp>
        <p:nvSpPr>
          <p:cNvPr id="7" name="Text 5"/>
          <p:cNvSpPr/>
          <p:nvPr/>
        </p:nvSpPr>
        <p:spPr>
          <a:xfrm>
            <a:off x="411480" y="2249424"/>
            <a:ext cx="1920240" cy="57607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8" name="Text 6"/>
          <p:cNvSpPr/>
          <p:nvPr/>
        </p:nvSpPr>
        <p:spPr>
          <a:xfrm>
            <a:off x="411480" y="2752344"/>
            <a:ext cx="1920240" cy="364846"/>
          </a:xfrm>
          <a:prstGeom prst="rect">
            <a:avLst/>
          </a:prstGeom>
          <a:noFill/>
          <a:ln/>
        </p:spPr>
        <p:txBody>
          <a:bodyPr wrap="square" lIns="0" tIns="0" rIns="0" bIns="0" rtlCol="0" anchor="ctr"/>
          <a:lstStyle/>
          <a:p>
            <a:pPr marL="0" indent="0" algn="ctr">
              <a:buNone/>
            </a:pPr>
            <a:r>
              <a:rPr lang="en-US" sz="1050" dirty="0">
                <a:solidFill>
                  <a:srgbClr val="BFDBFE"/>
                </a:solidFill>
                <a:latin typeface="Calibri" pitchFamily="34" charset="0"/>
                <a:ea typeface="Calibri" pitchFamily="34" charset="-122"/>
                <a:cs typeface="Calibri" pitchFamily="34" charset="-120"/>
              </a:rPr>
              <a:t>Core Modules</a:t>
            </a:r>
            <a:endParaRPr lang="en-US" sz="1050" dirty="0"/>
          </a:p>
        </p:txBody>
      </p:sp>
      <p:sp>
        <p:nvSpPr>
          <p:cNvPr id="9" name="Shape 7"/>
          <p:cNvSpPr/>
          <p:nvPr/>
        </p:nvSpPr>
        <p:spPr>
          <a:xfrm>
            <a:off x="2514600" y="2176272"/>
            <a:ext cx="1920240" cy="96012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sp>
      <p:sp>
        <p:nvSpPr>
          <p:cNvPr id="10" name="Text 8"/>
          <p:cNvSpPr/>
          <p:nvPr/>
        </p:nvSpPr>
        <p:spPr>
          <a:xfrm>
            <a:off x="2514600" y="2249424"/>
            <a:ext cx="1920240" cy="57607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OTP</a:t>
            </a:r>
            <a:endParaRPr lang="en-US" sz="3000" dirty="0"/>
          </a:p>
        </p:txBody>
      </p:sp>
      <p:sp>
        <p:nvSpPr>
          <p:cNvPr id="11" name="Text 9"/>
          <p:cNvSpPr/>
          <p:nvPr/>
        </p:nvSpPr>
        <p:spPr>
          <a:xfrm>
            <a:off x="2514600" y="2752344"/>
            <a:ext cx="1920240" cy="364846"/>
          </a:xfrm>
          <a:prstGeom prst="rect">
            <a:avLst/>
          </a:prstGeom>
          <a:noFill/>
          <a:ln/>
        </p:spPr>
        <p:txBody>
          <a:bodyPr wrap="square" lIns="0" tIns="0" rIns="0" bIns="0" rtlCol="0" anchor="ctr"/>
          <a:lstStyle/>
          <a:p>
            <a:pPr marL="0" indent="0" algn="ctr">
              <a:buNone/>
            </a:pPr>
            <a:r>
              <a:rPr lang="en-US" sz="1050" dirty="0">
                <a:solidFill>
                  <a:srgbClr val="BFDBFE"/>
                </a:solidFill>
                <a:latin typeface="Calibri" pitchFamily="34" charset="0"/>
                <a:ea typeface="Calibri" pitchFamily="34" charset="-122"/>
                <a:cs typeface="Calibri" pitchFamily="34" charset="-120"/>
              </a:rPr>
              <a:t>Login Security</a:t>
            </a:r>
            <a:endParaRPr lang="en-US" sz="1050" dirty="0"/>
          </a:p>
        </p:txBody>
      </p:sp>
      <p:sp>
        <p:nvSpPr>
          <p:cNvPr id="12" name="Shape 10"/>
          <p:cNvSpPr/>
          <p:nvPr/>
        </p:nvSpPr>
        <p:spPr>
          <a:xfrm>
            <a:off x="4617720" y="2176272"/>
            <a:ext cx="1920240" cy="96012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13" name="Text 11"/>
          <p:cNvSpPr/>
          <p:nvPr/>
        </p:nvSpPr>
        <p:spPr>
          <a:xfrm>
            <a:off x="4617720" y="2249424"/>
            <a:ext cx="1920240" cy="57607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PNR</a:t>
            </a:r>
            <a:endParaRPr lang="en-US" sz="3000" dirty="0"/>
          </a:p>
        </p:txBody>
      </p:sp>
      <p:sp>
        <p:nvSpPr>
          <p:cNvPr id="14" name="Text 12"/>
          <p:cNvSpPr/>
          <p:nvPr/>
        </p:nvSpPr>
        <p:spPr>
          <a:xfrm>
            <a:off x="4617720" y="2752344"/>
            <a:ext cx="1920240" cy="364846"/>
          </a:xfrm>
          <a:prstGeom prst="rect">
            <a:avLst/>
          </a:prstGeom>
          <a:noFill/>
          <a:ln/>
        </p:spPr>
        <p:txBody>
          <a:bodyPr wrap="square" lIns="0" tIns="0" rIns="0" bIns="0" rtlCol="0" anchor="ctr"/>
          <a:lstStyle/>
          <a:p>
            <a:pPr marL="0" indent="0" algn="ctr">
              <a:buNone/>
            </a:pPr>
            <a:r>
              <a:rPr lang="en-US" sz="1050" dirty="0">
                <a:solidFill>
                  <a:srgbClr val="BFDBFE"/>
                </a:solidFill>
                <a:latin typeface="Calibri" pitchFamily="34" charset="0"/>
                <a:ea typeface="Calibri" pitchFamily="34" charset="-122"/>
                <a:cs typeface="Calibri" pitchFamily="34" charset="-120"/>
              </a:rPr>
              <a:t>Booking IDs</a:t>
            </a:r>
            <a:endParaRPr lang="en-US" sz="1050" dirty="0"/>
          </a:p>
        </p:txBody>
      </p:sp>
      <p:sp>
        <p:nvSpPr>
          <p:cNvPr id="15" name="Shape 13"/>
          <p:cNvSpPr/>
          <p:nvPr/>
        </p:nvSpPr>
        <p:spPr>
          <a:xfrm>
            <a:off x="6720840" y="2176272"/>
            <a:ext cx="1920240" cy="960120"/>
          </a:xfrm>
          <a:prstGeom prst="rect">
            <a:avLst/>
          </a:prstGeom>
          <a:solidFill>
            <a:srgbClr val="F59E0B"/>
          </a:solidFill>
          <a:ln w="12700">
            <a:solidFill>
              <a:srgbClr val="F59E0B"/>
            </a:solidFill>
            <a:prstDash val="solid"/>
          </a:ln>
          <a:effectLst>
            <a:outerShdw blurRad="101600" dist="38100" dir="8100000" algn="bl" rotWithShape="0">
              <a:srgbClr val="000000">
                <a:alpha val="12000"/>
              </a:srgbClr>
            </a:outerShdw>
          </a:effectLst>
        </p:spPr>
      </p:sp>
      <p:sp>
        <p:nvSpPr>
          <p:cNvPr id="16" name="Text 14"/>
          <p:cNvSpPr/>
          <p:nvPr/>
        </p:nvSpPr>
        <p:spPr>
          <a:xfrm>
            <a:off x="6720840" y="2249424"/>
            <a:ext cx="1920240" cy="576072"/>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Email</a:t>
            </a:r>
            <a:endParaRPr lang="en-US" sz="3000" dirty="0"/>
          </a:p>
        </p:txBody>
      </p:sp>
      <p:sp>
        <p:nvSpPr>
          <p:cNvPr id="17" name="Text 15"/>
          <p:cNvSpPr/>
          <p:nvPr/>
        </p:nvSpPr>
        <p:spPr>
          <a:xfrm>
            <a:off x="6720840" y="2752344"/>
            <a:ext cx="1920240" cy="364846"/>
          </a:xfrm>
          <a:prstGeom prst="rect">
            <a:avLst/>
          </a:prstGeom>
          <a:noFill/>
          <a:ln/>
        </p:spPr>
        <p:txBody>
          <a:bodyPr wrap="square" lIns="0" tIns="0" rIns="0" bIns="0" rtlCol="0" anchor="ctr"/>
          <a:lstStyle/>
          <a:p>
            <a:pPr marL="0" indent="0" algn="ctr">
              <a:buNone/>
            </a:pPr>
            <a:r>
              <a:rPr lang="en-US" sz="1050" dirty="0">
                <a:solidFill>
                  <a:srgbClr val="BFDBFE"/>
                </a:solidFill>
                <a:latin typeface="Calibri" pitchFamily="34" charset="0"/>
                <a:ea typeface="Calibri" pitchFamily="34" charset="-122"/>
                <a:cs typeface="Calibri" pitchFamily="34" charset="-120"/>
              </a:rPr>
              <a:t>Auto-Confirm</a:t>
            </a:r>
            <a:endParaRPr lang="en-US" sz="1050" dirty="0"/>
          </a:p>
        </p:txBody>
      </p:sp>
      <p:sp>
        <p:nvSpPr>
          <p:cNvPr id="18" name="Text 16"/>
          <p:cNvSpPr/>
          <p:nvPr/>
        </p:nvSpPr>
        <p:spPr>
          <a:xfrm>
            <a:off x="411480" y="3291840"/>
            <a:ext cx="8229600" cy="320040"/>
          </a:xfrm>
          <a:prstGeom prst="rect">
            <a:avLst/>
          </a:prstGeom>
          <a:noFill/>
          <a:ln/>
        </p:spPr>
        <p:txBody>
          <a:bodyPr wrap="square" lIns="0" tIns="0" rIns="0" bIns="0" rtlCol="0" anchor="ctr"/>
          <a:lstStyle/>
          <a:p>
            <a:pPr marL="0" indent="0">
              <a:buNone/>
            </a:pPr>
            <a:r>
              <a:rPr lang="en-US" sz="1350" b="1" dirty="0">
                <a:solidFill>
                  <a:srgbClr val="1A2B5E"/>
                </a:solidFill>
                <a:latin typeface="Calibri" pitchFamily="34" charset="0"/>
                <a:ea typeface="Calibri" pitchFamily="34" charset="-122"/>
                <a:cs typeface="Calibri" pitchFamily="34" charset="-120"/>
              </a:rPr>
              <a:t>Key Outcomes</a:t>
            </a:r>
            <a:endParaRPr lang="en-US" sz="1350" dirty="0"/>
          </a:p>
        </p:txBody>
      </p:sp>
      <p:sp>
        <p:nvSpPr>
          <p:cNvPr id="19" name="Shape 17"/>
          <p:cNvSpPr/>
          <p:nvPr/>
        </p:nvSpPr>
        <p:spPr>
          <a:xfrm>
            <a:off x="411480" y="3703320"/>
            <a:ext cx="54864" cy="182880"/>
          </a:xfrm>
          <a:prstGeom prst="rect">
            <a:avLst/>
          </a:prstGeom>
          <a:solidFill>
            <a:srgbClr val="0D9488"/>
          </a:solidFill>
          <a:ln w="12700">
            <a:solidFill>
              <a:srgbClr val="0D9488"/>
            </a:solidFill>
            <a:prstDash val="solid"/>
          </a:ln>
        </p:spPr>
      </p:sp>
      <p:sp>
        <p:nvSpPr>
          <p:cNvPr id="20" name="Text 18"/>
          <p:cNvSpPr/>
          <p:nvPr/>
        </p:nvSpPr>
        <p:spPr>
          <a:xfrm>
            <a:off x="566928" y="3685032"/>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Digital booking workflow replacing all manual processes</a:t>
            </a:r>
            <a:endParaRPr lang="en-US" sz="1150" dirty="0"/>
          </a:p>
        </p:txBody>
      </p:sp>
      <p:sp>
        <p:nvSpPr>
          <p:cNvPr id="21" name="Shape 19"/>
          <p:cNvSpPr/>
          <p:nvPr/>
        </p:nvSpPr>
        <p:spPr>
          <a:xfrm>
            <a:off x="411480" y="3950208"/>
            <a:ext cx="54864" cy="182880"/>
          </a:xfrm>
          <a:prstGeom prst="rect">
            <a:avLst/>
          </a:prstGeom>
          <a:solidFill>
            <a:srgbClr val="0D9488"/>
          </a:solidFill>
          <a:ln w="12700">
            <a:solidFill>
              <a:srgbClr val="0D9488"/>
            </a:solidFill>
            <a:prstDash val="solid"/>
          </a:ln>
        </p:spPr>
      </p:sp>
      <p:sp>
        <p:nvSpPr>
          <p:cNvPr id="22" name="Text 20"/>
          <p:cNvSpPr/>
          <p:nvPr/>
        </p:nvSpPr>
        <p:spPr>
          <a:xfrm>
            <a:off x="566928" y="3931920"/>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Two-step OTP authentication ensuring only valid users gain access</a:t>
            </a:r>
            <a:endParaRPr lang="en-US" sz="1150" dirty="0"/>
          </a:p>
        </p:txBody>
      </p:sp>
      <p:sp>
        <p:nvSpPr>
          <p:cNvPr id="23" name="Shape 21"/>
          <p:cNvSpPr/>
          <p:nvPr/>
        </p:nvSpPr>
        <p:spPr>
          <a:xfrm>
            <a:off x="411480" y="4197096"/>
            <a:ext cx="54864" cy="182880"/>
          </a:xfrm>
          <a:prstGeom prst="rect">
            <a:avLst/>
          </a:prstGeom>
          <a:solidFill>
            <a:srgbClr val="0D9488"/>
          </a:solidFill>
          <a:ln w="12700">
            <a:solidFill>
              <a:srgbClr val="0D9488"/>
            </a:solidFill>
            <a:prstDash val="solid"/>
          </a:ln>
        </p:spPr>
      </p:sp>
      <p:sp>
        <p:nvSpPr>
          <p:cNvPr id="24" name="Text 22"/>
          <p:cNvSpPr/>
          <p:nvPr/>
        </p:nvSpPr>
        <p:spPr>
          <a:xfrm>
            <a:off x="566928" y="4178808"/>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Automated email ticket confirmation sent immediately after booking</a:t>
            </a:r>
            <a:endParaRPr lang="en-US" sz="1150" dirty="0"/>
          </a:p>
        </p:txBody>
      </p:sp>
      <p:sp>
        <p:nvSpPr>
          <p:cNvPr id="25" name="Shape 23"/>
          <p:cNvSpPr/>
          <p:nvPr/>
        </p:nvSpPr>
        <p:spPr>
          <a:xfrm>
            <a:off x="411480" y="4443984"/>
            <a:ext cx="54864" cy="182880"/>
          </a:xfrm>
          <a:prstGeom prst="rect">
            <a:avLst/>
          </a:prstGeom>
          <a:solidFill>
            <a:srgbClr val="0D9488"/>
          </a:solidFill>
          <a:ln w="12700">
            <a:solidFill>
              <a:srgbClr val="0D9488"/>
            </a:solidFill>
            <a:prstDash val="solid"/>
          </a:ln>
        </p:spPr>
      </p:sp>
      <p:sp>
        <p:nvSpPr>
          <p:cNvPr id="26" name="Text 24"/>
          <p:cNvSpPr/>
          <p:nvPr/>
        </p:nvSpPr>
        <p:spPr>
          <a:xfrm>
            <a:off x="566928" y="4425696"/>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Centralized admin dashboard with complete platform visibility and control</a:t>
            </a:r>
            <a:endParaRPr lang="en-US" sz="1150" dirty="0"/>
          </a:p>
        </p:txBody>
      </p:sp>
      <p:sp>
        <p:nvSpPr>
          <p:cNvPr id="27" name="Shape 25"/>
          <p:cNvSpPr/>
          <p:nvPr/>
        </p:nvSpPr>
        <p:spPr>
          <a:xfrm>
            <a:off x="411480" y="4690872"/>
            <a:ext cx="54864" cy="182880"/>
          </a:xfrm>
          <a:prstGeom prst="rect">
            <a:avLst/>
          </a:prstGeom>
          <a:solidFill>
            <a:srgbClr val="0D9488"/>
          </a:solidFill>
          <a:ln w="12700">
            <a:solidFill>
              <a:srgbClr val="0D9488"/>
            </a:solidFill>
            <a:prstDash val="solid"/>
          </a:ln>
        </p:spPr>
      </p:sp>
      <p:sp>
        <p:nvSpPr>
          <p:cNvPr id="28" name="Text 26"/>
          <p:cNvSpPr/>
          <p:nvPr/>
        </p:nvSpPr>
        <p:spPr>
          <a:xfrm>
            <a:off x="566928" y="4672584"/>
            <a:ext cx="8092440" cy="21945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Modular, scalable architecture ready for future feature extensions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Introduction &amp; Problem Statement</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The challenge that RailConnect was built to address</a:t>
            </a:r>
            <a:endParaRPr lang="en-US" sz="1150" dirty="0"/>
          </a:p>
        </p:txBody>
      </p:sp>
      <p:sp>
        <p:nvSpPr>
          <p:cNvPr id="5" name="Shape 3"/>
          <p:cNvSpPr/>
          <p:nvPr/>
        </p:nvSpPr>
        <p:spPr>
          <a:xfrm>
            <a:off x="320040" y="1115568"/>
            <a:ext cx="4114800" cy="384048"/>
          </a:xfrm>
          <a:prstGeom prst="rect">
            <a:avLst/>
          </a:prstGeom>
          <a:solidFill>
            <a:srgbClr val="EF4444"/>
          </a:solidFill>
          <a:ln w="12700">
            <a:solidFill>
              <a:srgbClr val="EF4444"/>
            </a:solidFill>
            <a:prstDash val="solid"/>
          </a:ln>
        </p:spPr>
      </p:sp>
      <p:sp>
        <p:nvSpPr>
          <p:cNvPr id="6" name="Text 4"/>
          <p:cNvSpPr/>
          <p:nvPr/>
        </p:nvSpPr>
        <p:spPr>
          <a:xfrm>
            <a:off x="457200" y="1143000"/>
            <a:ext cx="38404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Problem</a:t>
            </a:r>
            <a:endParaRPr lang="en-US" sz="1300" dirty="0"/>
          </a:p>
        </p:txBody>
      </p:sp>
      <p:sp>
        <p:nvSpPr>
          <p:cNvPr id="7" name="Shape 5"/>
          <p:cNvSpPr/>
          <p:nvPr/>
        </p:nvSpPr>
        <p:spPr>
          <a:xfrm>
            <a:off x="320040" y="1572768"/>
            <a:ext cx="4114800" cy="475488"/>
          </a:xfrm>
          <a:prstGeom prst="rect">
            <a:avLst/>
          </a:prstGeom>
          <a:solidFill>
            <a:srgbClr val="FFFFFF"/>
          </a:solidFill>
          <a:ln w="12700">
            <a:solidFill>
              <a:srgbClr val="FCA5A5"/>
            </a:solidFill>
            <a:prstDash val="solid"/>
          </a:ln>
        </p:spPr>
      </p:sp>
      <p:sp>
        <p:nvSpPr>
          <p:cNvPr id="8" name="Text 6"/>
          <p:cNvSpPr/>
          <p:nvPr/>
        </p:nvSpPr>
        <p:spPr>
          <a:xfrm>
            <a:off x="438912" y="1609344"/>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Manual booking is slow and prone to errors</a:t>
            </a:r>
            <a:endParaRPr lang="en-US" sz="1150" dirty="0"/>
          </a:p>
        </p:txBody>
      </p:sp>
      <p:sp>
        <p:nvSpPr>
          <p:cNvPr id="9" name="Shape 7"/>
          <p:cNvSpPr/>
          <p:nvPr/>
        </p:nvSpPr>
        <p:spPr>
          <a:xfrm>
            <a:off x="320040" y="2139696"/>
            <a:ext cx="4114800" cy="475488"/>
          </a:xfrm>
          <a:prstGeom prst="rect">
            <a:avLst/>
          </a:prstGeom>
          <a:solidFill>
            <a:srgbClr val="FFFFFF"/>
          </a:solidFill>
          <a:ln w="12700">
            <a:solidFill>
              <a:srgbClr val="FCA5A5"/>
            </a:solidFill>
            <a:prstDash val="solid"/>
          </a:ln>
        </p:spPr>
      </p:sp>
      <p:sp>
        <p:nvSpPr>
          <p:cNvPr id="10" name="Text 8"/>
          <p:cNvSpPr/>
          <p:nvPr/>
        </p:nvSpPr>
        <p:spPr>
          <a:xfrm>
            <a:off x="438912" y="2176272"/>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Long queues with limited counter availability</a:t>
            </a:r>
            <a:endParaRPr lang="en-US" sz="1150" dirty="0"/>
          </a:p>
        </p:txBody>
      </p:sp>
      <p:sp>
        <p:nvSpPr>
          <p:cNvPr id="11" name="Shape 9"/>
          <p:cNvSpPr/>
          <p:nvPr/>
        </p:nvSpPr>
        <p:spPr>
          <a:xfrm>
            <a:off x="320040" y="2706624"/>
            <a:ext cx="4114800" cy="475488"/>
          </a:xfrm>
          <a:prstGeom prst="rect">
            <a:avLst/>
          </a:prstGeom>
          <a:solidFill>
            <a:srgbClr val="FFFFFF"/>
          </a:solidFill>
          <a:ln w="12700">
            <a:solidFill>
              <a:srgbClr val="FCA5A5"/>
            </a:solidFill>
            <a:prstDash val="solid"/>
          </a:ln>
        </p:spPr>
      </p:sp>
      <p:sp>
        <p:nvSpPr>
          <p:cNvPr id="12" name="Text 10"/>
          <p:cNvSpPr/>
          <p:nvPr/>
        </p:nvSpPr>
        <p:spPr>
          <a:xfrm>
            <a:off x="438912" y="2743200"/>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No real-time seat tracking or updates</a:t>
            </a:r>
            <a:endParaRPr lang="en-US" sz="1150" dirty="0"/>
          </a:p>
        </p:txBody>
      </p:sp>
      <p:sp>
        <p:nvSpPr>
          <p:cNvPr id="13" name="Shape 11"/>
          <p:cNvSpPr/>
          <p:nvPr/>
        </p:nvSpPr>
        <p:spPr>
          <a:xfrm>
            <a:off x="320040" y="3273552"/>
            <a:ext cx="4114800" cy="475488"/>
          </a:xfrm>
          <a:prstGeom prst="rect">
            <a:avLst/>
          </a:prstGeom>
          <a:solidFill>
            <a:srgbClr val="FFFFFF"/>
          </a:solidFill>
          <a:ln w="12700">
            <a:solidFill>
              <a:srgbClr val="FCA5A5"/>
            </a:solidFill>
            <a:prstDash val="solid"/>
          </a:ln>
        </p:spPr>
      </p:sp>
      <p:sp>
        <p:nvSpPr>
          <p:cNvPr id="14" name="Text 12"/>
          <p:cNvSpPr/>
          <p:nvPr/>
        </p:nvSpPr>
        <p:spPr>
          <a:xfrm>
            <a:off x="438912" y="3310128"/>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No automated confirmation or digital records</a:t>
            </a:r>
            <a:endParaRPr lang="en-US" sz="1150" dirty="0"/>
          </a:p>
        </p:txBody>
      </p:sp>
      <p:sp>
        <p:nvSpPr>
          <p:cNvPr id="15" name="Shape 13"/>
          <p:cNvSpPr/>
          <p:nvPr/>
        </p:nvSpPr>
        <p:spPr>
          <a:xfrm>
            <a:off x="320040" y="3840480"/>
            <a:ext cx="4114800" cy="475488"/>
          </a:xfrm>
          <a:prstGeom prst="rect">
            <a:avLst/>
          </a:prstGeom>
          <a:solidFill>
            <a:srgbClr val="FFFFFF"/>
          </a:solidFill>
          <a:ln w="12700">
            <a:solidFill>
              <a:srgbClr val="FCA5A5"/>
            </a:solidFill>
            <a:prstDash val="solid"/>
          </a:ln>
        </p:spPr>
      </p:sp>
      <p:sp>
        <p:nvSpPr>
          <p:cNvPr id="16" name="Text 14"/>
          <p:cNvSpPr/>
          <p:nvPr/>
        </p:nvSpPr>
        <p:spPr>
          <a:xfrm>
            <a:off x="438912" y="3877056"/>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Difficult admin monitoring and reporting</a:t>
            </a:r>
            <a:endParaRPr lang="en-US" sz="1150" dirty="0"/>
          </a:p>
        </p:txBody>
      </p:sp>
      <p:sp>
        <p:nvSpPr>
          <p:cNvPr id="17" name="Shape 15"/>
          <p:cNvSpPr/>
          <p:nvPr/>
        </p:nvSpPr>
        <p:spPr>
          <a:xfrm>
            <a:off x="4709160" y="1115568"/>
            <a:ext cx="4114800" cy="384048"/>
          </a:xfrm>
          <a:prstGeom prst="rect">
            <a:avLst/>
          </a:prstGeom>
          <a:solidFill>
            <a:srgbClr val="0D9488"/>
          </a:solidFill>
          <a:ln w="12700">
            <a:solidFill>
              <a:srgbClr val="0D9488"/>
            </a:solidFill>
            <a:prstDash val="solid"/>
          </a:ln>
        </p:spPr>
      </p:sp>
      <p:sp>
        <p:nvSpPr>
          <p:cNvPr id="18" name="Text 16"/>
          <p:cNvSpPr/>
          <p:nvPr/>
        </p:nvSpPr>
        <p:spPr>
          <a:xfrm>
            <a:off x="4846320" y="1143000"/>
            <a:ext cx="38404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RailConnect Solution</a:t>
            </a:r>
            <a:endParaRPr lang="en-US" sz="1300" dirty="0"/>
          </a:p>
        </p:txBody>
      </p:sp>
      <p:sp>
        <p:nvSpPr>
          <p:cNvPr id="19" name="Shape 17"/>
          <p:cNvSpPr/>
          <p:nvPr/>
        </p:nvSpPr>
        <p:spPr>
          <a:xfrm>
            <a:off x="4709160" y="1572768"/>
            <a:ext cx="4114800" cy="475488"/>
          </a:xfrm>
          <a:prstGeom prst="rect">
            <a:avLst/>
          </a:prstGeom>
          <a:solidFill>
            <a:srgbClr val="FFFFFF"/>
          </a:solidFill>
          <a:ln w="12700">
            <a:solidFill>
              <a:srgbClr val="6EE7B7"/>
            </a:solidFill>
            <a:prstDash val="solid"/>
          </a:ln>
        </p:spPr>
      </p:sp>
      <p:sp>
        <p:nvSpPr>
          <p:cNvPr id="20" name="Text 18"/>
          <p:cNvSpPr/>
          <p:nvPr/>
        </p:nvSpPr>
        <p:spPr>
          <a:xfrm>
            <a:off x="4828032" y="1609344"/>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Structured digital booking in minutes</a:t>
            </a:r>
            <a:endParaRPr lang="en-US" sz="1150" dirty="0"/>
          </a:p>
        </p:txBody>
      </p:sp>
      <p:sp>
        <p:nvSpPr>
          <p:cNvPr id="21" name="Shape 19"/>
          <p:cNvSpPr/>
          <p:nvPr/>
        </p:nvSpPr>
        <p:spPr>
          <a:xfrm>
            <a:off x="4709160" y="2139696"/>
            <a:ext cx="4114800" cy="475488"/>
          </a:xfrm>
          <a:prstGeom prst="rect">
            <a:avLst/>
          </a:prstGeom>
          <a:solidFill>
            <a:srgbClr val="FFFFFF"/>
          </a:solidFill>
          <a:ln w="12700">
            <a:solidFill>
              <a:srgbClr val="6EE7B7"/>
            </a:solidFill>
            <a:prstDash val="solid"/>
          </a:ln>
        </p:spPr>
      </p:sp>
      <p:sp>
        <p:nvSpPr>
          <p:cNvPr id="22" name="Text 20"/>
          <p:cNvSpPr/>
          <p:nvPr/>
        </p:nvSpPr>
        <p:spPr>
          <a:xfrm>
            <a:off x="4828032" y="2176272"/>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24/7 access — no queues, no counters</a:t>
            </a:r>
            <a:endParaRPr lang="en-US" sz="1150" dirty="0"/>
          </a:p>
        </p:txBody>
      </p:sp>
      <p:sp>
        <p:nvSpPr>
          <p:cNvPr id="23" name="Shape 21"/>
          <p:cNvSpPr/>
          <p:nvPr/>
        </p:nvSpPr>
        <p:spPr>
          <a:xfrm>
            <a:off x="4709160" y="2706624"/>
            <a:ext cx="4114800" cy="475488"/>
          </a:xfrm>
          <a:prstGeom prst="rect">
            <a:avLst/>
          </a:prstGeom>
          <a:solidFill>
            <a:srgbClr val="FFFFFF"/>
          </a:solidFill>
          <a:ln w="12700">
            <a:solidFill>
              <a:srgbClr val="6EE7B7"/>
            </a:solidFill>
            <a:prstDash val="solid"/>
          </a:ln>
        </p:spPr>
      </p:sp>
      <p:sp>
        <p:nvSpPr>
          <p:cNvPr id="24" name="Text 22"/>
          <p:cNvSpPr/>
          <p:nvPr/>
        </p:nvSpPr>
        <p:spPr>
          <a:xfrm>
            <a:off x="4828032" y="2743200"/>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Live seat availability with instant updates</a:t>
            </a:r>
            <a:endParaRPr lang="en-US" sz="1150" dirty="0"/>
          </a:p>
        </p:txBody>
      </p:sp>
      <p:sp>
        <p:nvSpPr>
          <p:cNvPr id="25" name="Shape 23"/>
          <p:cNvSpPr/>
          <p:nvPr/>
        </p:nvSpPr>
        <p:spPr>
          <a:xfrm>
            <a:off x="4709160" y="3273552"/>
            <a:ext cx="4114800" cy="475488"/>
          </a:xfrm>
          <a:prstGeom prst="rect">
            <a:avLst/>
          </a:prstGeom>
          <a:solidFill>
            <a:srgbClr val="FFFFFF"/>
          </a:solidFill>
          <a:ln w="12700">
            <a:solidFill>
              <a:srgbClr val="6EE7B7"/>
            </a:solidFill>
            <a:prstDash val="solid"/>
          </a:ln>
        </p:spPr>
      </p:sp>
      <p:sp>
        <p:nvSpPr>
          <p:cNvPr id="26" name="Text 24"/>
          <p:cNvSpPr/>
          <p:nvPr/>
        </p:nvSpPr>
        <p:spPr>
          <a:xfrm>
            <a:off x="4828032" y="3310128"/>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Automated PNR + email on every booking</a:t>
            </a:r>
            <a:endParaRPr lang="en-US" sz="1150" dirty="0"/>
          </a:p>
        </p:txBody>
      </p:sp>
      <p:sp>
        <p:nvSpPr>
          <p:cNvPr id="27" name="Shape 25"/>
          <p:cNvSpPr/>
          <p:nvPr/>
        </p:nvSpPr>
        <p:spPr>
          <a:xfrm>
            <a:off x="4709160" y="3840480"/>
            <a:ext cx="4114800" cy="475488"/>
          </a:xfrm>
          <a:prstGeom prst="rect">
            <a:avLst/>
          </a:prstGeom>
          <a:solidFill>
            <a:srgbClr val="FFFFFF"/>
          </a:solidFill>
          <a:ln w="12700">
            <a:solidFill>
              <a:srgbClr val="6EE7B7"/>
            </a:solidFill>
            <a:prstDash val="solid"/>
          </a:ln>
        </p:spPr>
      </p:sp>
      <p:sp>
        <p:nvSpPr>
          <p:cNvPr id="28" name="Text 26"/>
          <p:cNvSpPr/>
          <p:nvPr/>
        </p:nvSpPr>
        <p:spPr>
          <a:xfrm>
            <a:off x="4828032" y="3877056"/>
            <a:ext cx="384048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  Full admin dashboard with usage reports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System Architecture</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Three-tier design for clean separation and scalability</a:t>
            </a:r>
            <a:endParaRPr lang="en-US" sz="1150" dirty="0"/>
          </a:p>
        </p:txBody>
      </p:sp>
      <p:sp>
        <p:nvSpPr>
          <p:cNvPr id="5" name="Shape 3"/>
          <p:cNvSpPr/>
          <p:nvPr/>
        </p:nvSpPr>
        <p:spPr>
          <a:xfrm>
            <a:off x="274320" y="1115568"/>
            <a:ext cx="2788920"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1115568"/>
            <a:ext cx="2788920" cy="777240"/>
          </a:xfrm>
          <a:prstGeom prst="rect">
            <a:avLst/>
          </a:prstGeom>
          <a:solidFill>
            <a:srgbClr val="0D9488"/>
          </a:solidFill>
          <a:ln w="12700">
            <a:solidFill>
              <a:srgbClr val="0D9488"/>
            </a:solidFill>
            <a:prstDash val="solid"/>
          </a:ln>
        </p:spPr>
      </p:sp>
      <p:sp>
        <p:nvSpPr>
          <p:cNvPr id="7" name="Text 5"/>
          <p:cNvSpPr/>
          <p:nvPr/>
        </p:nvSpPr>
        <p:spPr>
          <a:xfrm>
            <a:off x="384048" y="1152144"/>
            <a:ext cx="260604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Presentation Layer</a:t>
            </a:r>
            <a:endParaRPr lang="en-US" sz="1300" dirty="0"/>
          </a:p>
        </p:txBody>
      </p:sp>
      <p:sp>
        <p:nvSpPr>
          <p:cNvPr id="8" name="Text 6"/>
          <p:cNvSpPr/>
          <p:nvPr/>
        </p:nvSpPr>
        <p:spPr>
          <a:xfrm>
            <a:off x="384048" y="1572768"/>
            <a:ext cx="2606040" cy="274320"/>
          </a:xfrm>
          <a:prstGeom prst="rect">
            <a:avLst/>
          </a:prstGeom>
          <a:noFill/>
          <a:ln/>
        </p:spPr>
        <p:txBody>
          <a:bodyPr wrap="square" lIns="0" tIns="0" rIns="0" bIns="0" rtlCol="0" anchor="ctr"/>
          <a:lstStyle/>
          <a:p>
            <a:pPr marL="0" indent="0">
              <a:buNone/>
            </a:pPr>
            <a:r>
              <a:rPr lang="en-US" sz="1000" i="1" dirty="0">
                <a:solidFill>
                  <a:srgbClr val="E0F2FE"/>
                </a:solidFill>
                <a:latin typeface="Calibri" pitchFamily="34" charset="0"/>
                <a:ea typeface="Calibri" pitchFamily="34" charset="-122"/>
                <a:cs typeface="Calibri" pitchFamily="34" charset="-120"/>
              </a:rPr>
              <a:t>Frontend</a:t>
            </a:r>
            <a:endParaRPr lang="en-US" sz="1000" dirty="0"/>
          </a:p>
        </p:txBody>
      </p:sp>
      <p:sp>
        <p:nvSpPr>
          <p:cNvPr id="9" name="Shape 7"/>
          <p:cNvSpPr/>
          <p:nvPr/>
        </p:nvSpPr>
        <p:spPr>
          <a:xfrm>
            <a:off x="411480" y="2057400"/>
            <a:ext cx="54864" cy="256032"/>
          </a:xfrm>
          <a:prstGeom prst="rect">
            <a:avLst/>
          </a:prstGeom>
          <a:solidFill>
            <a:srgbClr val="0D9488"/>
          </a:solidFill>
          <a:ln w="12700">
            <a:solidFill>
              <a:srgbClr val="0D9488"/>
            </a:solidFill>
            <a:prstDash val="solid"/>
          </a:ln>
        </p:spPr>
      </p:sp>
      <p:sp>
        <p:nvSpPr>
          <p:cNvPr id="10" name="Text 8"/>
          <p:cNvSpPr/>
          <p:nvPr/>
        </p:nvSpPr>
        <p:spPr>
          <a:xfrm>
            <a:off x="566928" y="2029968"/>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HTML5 + CSS3 + JavaScript</a:t>
            </a:r>
            <a:endParaRPr lang="en-US" sz="1150" dirty="0"/>
          </a:p>
        </p:txBody>
      </p:sp>
      <p:sp>
        <p:nvSpPr>
          <p:cNvPr id="11" name="Shape 9"/>
          <p:cNvSpPr/>
          <p:nvPr/>
        </p:nvSpPr>
        <p:spPr>
          <a:xfrm>
            <a:off x="411480" y="2715768"/>
            <a:ext cx="54864" cy="256032"/>
          </a:xfrm>
          <a:prstGeom prst="rect">
            <a:avLst/>
          </a:prstGeom>
          <a:solidFill>
            <a:srgbClr val="0D9488"/>
          </a:solidFill>
          <a:ln w="12700">
            <a:solidFill>
              <a:srgbClr val="0D9488"/>
            </a:solidFill>
            <a:prstDash val="solid"/>
          </a:ln>
        </p:spPr>
      </p:sp>
      <p:sp>
        <p:nvSpPr>
          <p:cNvPr id="12" name="Text 10"/>
          <p:cNvSpPr/>
          <p:nvPr/>
        </p:nvSpPr>
        <p:spPr>
          <a:xfrm>
            <a:off x="566928" y="2688336"/>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Train listing &amp; booking forms</a:t>
            </a:r>
            <a:endParaRPr lang="en-US" sz="1150" dirty="0"/>
          </a:p>
        </p:txBody>
      </p:sp>
      <p:sp>
        <p:nvSpPr>
          <p:cNvPr id="13" name="Shape 11"/>
          <p:cNvSpPr/>
          <p:nvPr/>
        </p:nvSpPr>
        <p:spPr>
          <a:xfrm>
            <a:off x="411480" y="3374136"/>
            <a:ext cx="54864" cy="256032"/>
          </a:xfrm>
          <a:prstGeom prst="rect">
            <a:avLst/>
          </a:prstGeom>
          <a:solidFill>
            <a:srgbClr val="0D9488"/>
          </a:solidFill>
          <a:ln w="12700">
            <a:solidFill>
              <a:srgbClr val="0D9488"/>
            </a:solidFill>
            <a:prstDash val="solid"/>
          </a:ln>
        </p:spPr>
      </p:sp>
      <p:sp>
        <p:nvSpPr>
          <p:cNvPr id="14" name="Text 12"/>
          <p:cNvSpPr/>
          <p:nvPr/>
        </p:nvSpPr>
        <p:spPr>
          <a:xfrm>
            <a:off x="566928" y="3346704"/>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Dynamic passenger input fields</a:t>
            </a:r>
            <a:endParaRPr lang="en-US" sz="1150" dirty="0"/>
          </a:p>
        </p:txBody>
      </p:sp>
      <p:sp>
        <p:nvSpPr>
          <p:cNvPr id="15" name="Shape 13"/>
          <p:cNvSpPr/>
          <p:nvPr/>
        </p:nvSpPr>
        <p:spPr>
          <a:xfrm>
            <a:off x="411480" y="4032504"/>
            <a:ext cx="54864" cy="256032"/>
          </a:xfrm>
          <a:prstGeom prst="rect">
            <a:avLst/>
          </a:prstGeom>
          <a:solidFill>
            <a:srgbClr val="0D9488"/>
          </a:solidFill>
          <a:ln w="12700">
            <a:solidFill>
              <a:srgbClr val="0D9488"/>
            </a:solidFill>
            <a:prstDash val="solid"/>
          </a:ln>
        </p:spPr>
      </p:sp>
      <p:sp>
        <p:nvSpPr>
          <p:cNvPr id="16" name="Text 14"/>
          <p:cNvSpPr/>
          <p:nvPr/>
        </p:nvSpPr>
        <p:spPr>
          <a:xfrm>
            <a:off x="566928" y="4005072"/>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Ticket summaries &amp; responsive UI</a:t>
            </a:r>
            <a:endParaRPr lang="en-US" sz="1150" dirty="0"/>
          </a:p>
        </p:txBody>
      </p:sp>
      <p:sp>
        <p:nvSpPr>
          <p:cNvPr id="17" name="Shape 15"/>
          <p:cNvSpPr/>
          <p:nvPr/>
        </p:nvSpPr>
        <p:spPr>
          <a:xfrm>
            <a:off x="3200400" y="1115568"/>
            <a:ext cx="2788920"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8" name="Shape 16"/>
          <p:cNvSpPr/>
          <p:nvPr/>
        </p:nvSpPr>
        <p:spPr>
          <a:xfrm>
            <a:off x="3200400" y="1115568"/>
            <a:ext cx="2788920" cy="777240"/>
          </a:xfrm>
          <a:prstGeom prst="rect">
            <a:avLst/>
          </a:prstGeom>
          <a:solidFill>
            <a:srgbClr val="2563EB"/>
          </a:solidFill>
          <a:ln w="12700">
            <a:solidFill>
              <a:srgbClr val="2563EB"/>
            </a:solidFill>
            <a:prstDash val="solid"/>
          </a:ln>
        </p:spPr>
      </p:sp>
      <p:sp>
        <p:nvSpPr>
          <p:cNvPr id="19" name="Text 17"/>
          <p:cNvSpPr/>
          <p:nvPr/>
        </p:nvSpPr>
        <p:spPr>
          <a:xfrm>
            <a:off x="3310128" y="1152144"/>
            <a:ext cx="260604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Application Layer</a:t>
            </a:r>
            <a:endParaRPr lang="en-US" sz="1300" dirty="0"/>
          </a:p>
        </p:txBody>
      </p:sp>
      <p:sp>
        <p:nvSpPr>
          <p:cNvPr id="20" name="Text 18"/>
          <p:cNvSpPr/>
          <p:nvPr/>
        </p:nvSpPr>
        <p:spPr>
          <a:xfrm>
            <a:off x="3310128" y="1572768"/>
            <a:ext cx="2606040" cy="274320"/>
          </a:xfrm>
          <a:prstGeom prst="rect">
            <a:avLst/>
          </a:prstGeom>
          <a:noFill/>
          <a:ln/>
        </p:spPr>
        <p:txBody>
          <a:bodyPr wrap="square" lIns="0" tIns="0" rIns="0" bIns="0" rtlCol="0" anchor="ctr"/>
          <a:lstStyle/>
          <a:p>
            <a:pPr marL="0" indent="0">
              <a:buNone/>
            </a:pPr>
            <a:r>
              <a:rPr lang="en-US" sz="1000" i="1" dirty="0">
                <a:solidFill>
                  <a:srgbClr val="E0F2FE"/>
                </a:solidFill>
                <a:latin typeface="Calibri" pitchFamily="34" charset="0"/>
                <a:ea typeface="Calibri" pitchFamily="34" charset="-122"/>
                <a:cs typeface="Calibri" pitchFamily="34" charset="-120"/>
              </a:rPr>
              <a:t>Python &amp; Django Framework</a:t>
            </a:r>
            <a:endParaRPr lang="en-US" sz="1000" dirty="0"/>
          </a:p>
        </p:txBody>
      </p:sp>
      <p:sp>
        <p:nvSpPr>
          <p:cNvPr id="21" name="Shape 19"/>
          <p:cNvSpPr/>
          <p:nvPr/>
        </p:nvSpPr>
        <p:spPr>
          <a:xfrm>
            <a:off x="3337560" y="2057400"/>
            <a:ext cx="54864" cy="256032"/>
          </a:xfrm>
          <a:prstGeom prst="rect">
            <a:avLst/>
          </a:prstGeom>
          <a:solidFill>
            <a:srgbClr val="2563EB"/>
          </a:solidFill>
          <a:ln w="12700">
            <a:solidFill>
              <a:srgbClr val="2563EB"/>
            </a:solidFill>
            <a:prstDash val="solid"/>
          </a:ln>
        </p:spPr>
      </p:sp>
      <p:sp>
        <p:nvSpPr>
          <p:cNvPr id="22" name="Text 20"/>
          <p:cNvSpPr/>
          <p:nvPr/>
        </p:nvSpPr>
        <p:spPr>
          <a:xfrm>
            <a:off x="3493008" y="2029968"/>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Business logic &amp; validation rules</a:t>
            </a:r>
            <a:endParaRPr lang="en-US" sz="1150" dirty="0"/>
          </a:p>
        </p:txBody>
      </p:sp>
      <p:sp>
        <p:nvSpPr>
          <p:cNvPr id="23" name="Shape 21"/>
          <p:cNvSpPr/>
          <p:nvPr/>
        </p:nvSpPr>
        <p:spPr>
          <a:xfrm>
            <a:off x="3337560" y="2715768"/>
            <a:ext cx="54864" cy="256032"/>
          </a:xfrm>
          <a:prstGeom prst="rect">
            <a:avLst/>
          </a:prstGeom>
          <a:solidFill>
            <a:srgbClr val="2563EB"/>
          </a:solidFill>
          <a:ln w="12700">
            <a:solidFill>
              <a:srgbClr val="2563EB"/>
            </a:solidFill>
            <a:prstDash val="solid"/>
          </a:ln>
        </p:spPr>
      </p:sp>
      <p:sp>
        <p:nvSpPr>
          <p:cNvPr id="24" name="Text 22"/>
          <p:cNvSpPr/>
          <p:nvPr/>
        </p:nvSpPr>
        <p:spPr>
          <a:xfrm>
            <a:off x="3493008" y="2688336"/>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OTP auth &amp; session management</a:t>
            </a:r>
            <a:endParaRPr lang="en-US" sz="1150" dirty="0"/>
          </a:p>
        </p:txBody>
      </p:sp>
      <p:sp>
        <p:nvSpPr>
          <p:cNvPr id="25" name="Shape 23"/>
          <p:cNvSpPr/>
          <p:nvPr/>
        </p:nvSpPr>
        <p:spPr>
          <a:xfrm>
            <a:off x="3337560" y="3374136"/>
            <a:ext cx="54864" cy="256032"/>
          </a:xfrm>
          <a:prstGeom prst="rect">
            <a:avLst/>
          </a:prstGeom>
          <a:solidFill>
            <a:srgbClr val="2563EB"/>
          </a:solidFill>
          <a:ln w="12700">
            <a:solidFill>
              <a:srgbClr val="2563EB"/>
            </a:solidFill>
            <a:prstDash val="solid"/>
          </a:ln>
        </p:spPr>
      </p:sp>
      <p:sp>
        <p:nvSpPr>
          <p:cNvPr id="26" name="Text 24"/>
          <p:cNvSpPr/>
          <p:nvPr/>
        </p:nvSpPr>
        <p:spPr>
          <a:xfrm>
            <a:off x="3493008" y="3346704"/>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Seat allocation &amp; PNR generation</a:t>
            </a:r>
            <a:endParaRPr lang="en-US" sz="1150" dirty="0"/>
          </a:p>
        </p:txBody>
      </p:sp>
      <p:sp>
        <p:nvSpPr>
          <p:cNvPr id="27" name="Shape 25"/>
          <p:cNvSpPr/>
          <p:nvPr/>
        </p:nvSpPr>
        <p:spPr>
          <a:xfrm>
            <a:off x="3337560" y="4032504"/>
            <a:ext cx="54864" cy="256032"/>
          </a:xfrm>
          <a:prstGeom prst="rect">
            <a:avLst/>
          </a:prstGeom>
          <a:solidFill>
            <a:srgbClr val="2563EB"/>
          </a:solidFill>
          <a:ln w="12700">
            <a:solidFill>
              <a:srgbClr val="2563EB"/>
            </a:solidFill>
            <a:prstDash val="solid"/>
          </a:ln>
        </p:spPr>
      </p:sp>
      <p:sp>
        <p:nvSpPr>
          <p:cNvPr id="28" name="Text 26"/>
          <p:cNvSpPr/>
          <p:nvPr/>
        </p:nvSpPr>
        <p:spPr>
          <a:xfrm>
            <a:off x="3493008" y="4005072"/>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Email integration &amp; admin logic</a:t>
            </a:r>
            <a:endParaRPr lang="en-US" sz="1150" dirty="0"/>
          </a:p>
        </p:txBody>
      </p:sp>
      <p:sp>
        <p:nvSpPr>
          <p:cNvPr id="29" name="Shape 27"/>
          <p:cNvSpPr/>
          <p:nvPr/>
        </p:nvSpPr>
        <p:spPr>
          <a:xfrm>
            <a:off x="6126480" y="1115568"/>
            <a:ext cx="2788920"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Shape 28"/>
          <p:cNvSpPr/>
          <p:nvPr/>
        </p:nvSpPr>
        <p:spPr>
          <a:xfrm>
            <a:off x="6126480" y="1115568"/>
            <a:ext cx="2788920" cy="777240"/>
          </a:xfrm>
          <a:prstGeom prst="rect">
            <a:avLst/>
          </a:prstGeom>
          <a:solidFill>
            <a:srgbClr val="1A2B5E"/>
          </a:solidFill>
          <a:ln w="12700">
            <a:solidFill>
              <a:srgbClr val="1A2B5E"/>
            </a:solidFill>
            <a:prstDash val="solid"/>
          </a:ln>
        </p:spPr>
      </p:sp>
      <p:sp>
        <p:nvSpPr>
          <p:cNvPr id="31" name="Text 29"/>
          <p:cNvSpPr/>
          <p:nvPr/>
        </p:nvSpPr>
        <p:spPr>
          <a:xfrm>
            <a:off x="6236208" y="1152144"/>
            <a:ext cx="260604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Layer</a:t>
            </a:r>
            <a:endParaRPr lang="en-US" sz="1300" dirty="0"/>
          </a:p>
        </p:txBody>
      </p:sp>
      <p:sp>
        <p:nvSpPr>
          <p:cNvPr id="32" name="Text 30"/>
          <p:cNvSpPr/>
          <p:nvPr/>
        </p:nvSpPr>
        <p:spPr>
          <a:xfrm>
            <a:off x="6236208" y="1572768"/>
            <a:ext cx="2606040" cy="274320"/>
          </a:xfrm>
          <a:prstGeom prst="rect">
            <a:avLst/>
          </a:prstGeom>
          <a:noFill/>
          <a:ln/>
        </p:spPr>
        <p:txBody>
          <a:bodyPr wrap="square" lIns="0" tIns="0" rIns="0" bIns="0" rtlCol="0" anchor="ctr"/>
          <a:lstStyle/>
          <a:p>
            <a:pPr marL="0" indent="0">
              <a:buNone/>
            </a:pPr>
            <a:r>
              <a:rPr lang="en-US" sz="1000" i="1" dirty="0">
                <a:solidFill>
                  <a:srgbClr val="E0F2FE"/>
                </a:solidFill>
                <a:latin typeface="Calibri" pitchFamily="34" charset="0"/>
                <a:ea typeface="Calibri" pitchFamily="34" charset="-122"/>
                <a:cs typeface="Calibri" pitchFamily="34" charset="-120"/>
              </a:rPr>
              <a:t>Relational Database via ORM</a:t>
            </a:r>
            <a:endParaRPr lang="en-US" sz="1000" dirty="0"/>
          </a:p>
        </p:txBody>
      </p:sp>
      <p:sp>
        <p:nvSpPr>
          <p:cNvPr id="33" name="Shape 31"/>
          <p:cNvSpPr/>
          <p:nvPr/>
        </p:nvSpPr>
        <p:spPr>
          <a:xfrm>
            <a:off x="6263640" y="2057400"/>
            <a:ext cx="54864" cy="256032"/>
          </a:xfrm>
          <a:prstGeom prst="rect">
            <a:avLst/>
          </a:prstGeom>
          <a:solidFill>
            <a:srgbClr val="1A2B5E"/>
          </a:solidFill>
          <a:ln w="12700">
            <a:solidFill>
              <a:srgbClr val="1A2B5E"/>
            </a:solidFill>
            <a:prstDash val="solid"/>
          </a:ln>
        </p:spPr>
      </p:sp>
      <p:sp>
        <p:nvSpPr>
          <p:cNvPr id="34" name="Text 32"/>
          <p:cNvSpPr/>
          <p:nvPr/>
        </p:nvSpPr>
        <p:spPr>
          <a:xfrm>
            <a:off x="6419088" y="2029968"/>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User &amp; admin credentials</a:t>
            </a:r>
            <a:endParaRPr lang="en-US" sz="1150" dirty="0"/>
          </a:p>
        </p:txBody>
      </p:sp>
      <p:sp>
        <p:nvSpPr>
          <p:cNvPr id="35" name="Shape 33"/>
          <p:cNvSpPr/>
          <p:nvPr/>
        </p:nvSpPr>
        <p:spPr>
          <a:xfrm>
            <a:off x="6263640" y="2715768"/>
            <a:ext cx="54864" cy="256032"/>
          </a:xfrm>
          <a:prstGeom prst="rect">
            <a:avLst/>
          </a:prstGeom>
          <a:solidFill>
            <a:srgbClr val="1A2B5E"/>
          </a:solidFill>
          <a:ln w="12700">
            <a:solidFill>
              <a:srgbClr val="1A2B5E"/>
            </a:solidFill>
            <a:prstDash val="solid"/>
          </a:ln>
        </p:spPr>
      </p:sp>
      <p:sp>
        <p:nvSpPr>
          <p:cNvPr id="36" name="Text 34"/>
          <p:cNvSpPr/>
          <p:nvPr/>
        </p:nvSpPr>
        <p:spPr>
          <a:xfrm>
            <a:off x="6419088" y="2688336"/>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Train records &amp; seat counts</a:t>
            </a:r>
            <a:endParaRPr lang="en-US" sz="1150" dirty="0"/>
          </a:p>
        </p:txBody>
      </p:sp>
      <p:sp>
        <p:nvSpPr>
          <p:cNvPr id="37" name="Shape 35"/>
          <p:cNvSpPr/>
          <p:nvPr/>
        </p:nvSpPr>
        <p:spPr>
          <a:xfrm>
            <a:off x="6263640" y="3374136"/>
            <a:ext cx="54864" cy="256032"/>
          </a:xfrm>
          <a:prstGeom prst="rect">
            <a:avLst/>
          </a:prstGeom>
          <a:solidFill>
            <a:srgbClr val="1A2B5E"/>
          </a:solidFill>
          <a:ln w="12700">
            <a:solidFill>
              <a:srgbClr val="1A2B5E"/>
            </a:solidFill>
            <a:prstDash val="solid"/>
          </a:ln>
        </p:spPr>
      </p:sp>
      <p:sp>
        <p:nvSpPr>
          <p:cNvPr id="38" name="Text 36"/>
          <p:cNvSpPr/>
          <p:nvPr/>
        </p:nvSpPr>
        <p:spPr>
          <a:xfrm>
            <a:off x="6419088" y="3346704"/>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Booking &amp; passenger details</a:t>
            </a:r>
            <a:endParaRPr lang="en-US" sz="1150" dirty="0"/>
          </a:p>
        </p:txBody>
      </p:sp>
      <p:sp>
        <p:nvSpPr>
          <p:cNvPr id="39" name="Shape 37"/>
          <p:cNvSpPr/>
          <p:nvPr/>
        </p:nvSpPr>
        <p:spPr>
          <a:xfrm>
            <a:off x="6263640" y="4032504"/>
            <a:ext cx="54864" cy="256032"/>
          </a:xfrm>
          <a:prstGeom prst="rect">
            <a:avLst/>
          </a:prstGeom>
          <a:solidFill>
            <a:srgbClr val="1A2B5E"/>
          </a:solidFill>
          <a:ln w="12700">
            <a:solidFill>
              <a:srgbClr val="1A2B5E"/>
            </a:solidFill>
            <a:prstDash val="solid"/>
          </a:ln>
        </p:spPr>
      </p:sp>
      <p:sp>
        <p:nvSpPr>
          <p:cNvPr id="40" name="Text 38"/>
          <p:cNvSpPr/>
          <p:nvPr/>
        </p:nvSpPr>
        <p:spPr>
          <a:xfrm>
            <a:off x="6419088" y="4005072"/>
            <a:ext cx="2395728"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Django ORM for secure access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User Module</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Registration, OTP login, session management &amp; post-login features</a:t>
            </a:r>
            <a:endParaRPr lang="en-US" sz="1150" dirty="0"/>
          </a:p>
        </p:txBody>
      </p:sp>
      <p:sp>
        <p:nvSpPr>
          <p:cNvPr id="5" name="Text 3"/>
          <p:cNvSpPr/>
          <p:nvPr/>
        </p:nvSpPr>
        <p:spPr>
          <a:xfrm>
            <a:off x="365760" y="1097280"/>
            <a:ext cx="4023360" cy="320040"/>
          </a:xfrm>
          <a:prstGeom prst="rect">
            <a:avLst/>
          </a:prstGeom>
          <a:noFill/>
          <a:ln/>
        </p:spPr>
        <p:txBody>
          <a:bodyPr wrap="square" lIns="0" tIns="0" rIns="0" bIns="0" rtlCol="0" anchor="ctr"/>
          <a:lstStyle/>
          <a:p>
            <a:pPr marL="0" indent="0">
              <a:buNone/>
            </a:pPr>
            <a:r>
              <a:rPr lang="en-US" sz="1350" b="1" dirty="0">
                <a:solidFill>
                  <a:srgbClr val="1A2B5E"/>
                </a:solidFill>
                <a:latin typeface="Calibri" pitchFamily="34" charset="0"/>
                <a:ea typeface="Calibri" pitchFamily="34" charset="-122"/>
                <a:cs typeface="Calibri" pitchFamily="34" charset="-120"/>
              </a:rPr>
              <a:t>OTP Login Flow</a:t>
            </a:r>
            <a:endParaRPr lang="en-US" sz="1350" dirty="0"/>
          </a:p>
        </p:txBody>
      </p:sp>
      <p:sp>
        <p:nvSpPr>
          <p:cNvPr id="6" name="Shape 4"/>
          <p:cNvSpPr/>
          <p:nvPr/>
        </p:nvSpPr>
        <p:spPr>
          <a:xfrm>
            <a:off x="365760" y="1508760"/>
            <a:ext cx="475488" cy="402336"/>
          </a:xfrm>
          <a:prstGeom prst="rect">
            <a:avLst/>
          </a:prstGeom>
          <a:solidFill>
            <a:srgbClr val="2563EB"/>
          </a:solidFill>
          <a:ln w="12700">
            <a:solidFill>
              <a:srgbClr val="2563EB"/>
            </a:solidFill>
            <a:prstDash val="solid"/>
          </a:ln>
        </p:spPr>
      </p:sp>
      <p:sp>
        <p:nvSpPr>
          <p:cNvPr id="7" name="Text 5"/>
          <p:cNvSpPr/>
          <p:nvPr/>
        </p:nvSpPr>
        <p:spPr>
          <a:xfrm>
            <a:off x="365760" y="150876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896112" y="1508760"/>
            <a:ext cx="3401568" cy="402336"/>
          </a:xfrm>
          <a:prstGeom prst="rect">
            <a:avLst/>
          </a:prstGeom>
          <a:solidFill>
            <a:srgbClr val="FFFFFF"/>
          </a:solidFill>
          <a:ln w="12700">
            <a:solidFill>
              <a:srgbClr val="D1D5DB"/>
            </a:solidFill>
            <a:prstDash val="solid"/>
          </a:ln>
        </p:spPr>
      </p:sp>
      <p:sp>
        <p:nvSpPr>
          <p:cNvPr id="9" name="Text 7"/>
          <p:cNvSpPr/>
          <p:nvPr/>
        </p:nvSpPr>
        <p:spPr>
          <a:xfrm>
            <a:off x="1005840" y="1508760"/>
            <a:ext cx="320040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Enter Username &amp; Password</a:t>
            </a:r>
            <a:endParaRPr lang="en-US" sz="1150" dirty="0"/>
          </a:p>
        </p:txBody>
      </p:sp>
      <p:sp>
        <p:nvSpPr>
          <p:cNvPr id="10" name="Shape 8"/>
          <p:cNvSpPr/>
          <p:nvPr/>
        </p:nvSpPr>
        <p:spPr>
          <a:xfrm>
            <a:off x="603504" y="1911096"/>
            <a:ext cx="0" cy="192024"/>
          </a:xfrm>
          <a:prstGeom prst="line">
            <a:avLst/>
          </a:prstGeom>
          <a:noFill/>
          <a:ln w="25400">
            <a:solidFill>
              <a:srgbClr val="2563EB"/>
            </a:solidFill>
            <a:prstDash val="solid"/>
          </a:ln>
        </p:spPr>
      </p:sp>
      <p:sp>
        <p:nvSpPr>
          <p:cNvPr id="11" name="Shape 9"/>
          <p:cNvSpPr/>
          <p:nvPr/>
        </p:nvSpPr>
        <p:spPr>
          <a:xfrm>
            <a:off x="365760" y="2103120"/>
            <a:ext cx="475488" cy="402336"/>
          </a:xfrm>
          <a:prstGeom prst="rect">
            <a:avLst/>
          </a:prstGeom>
          <a:solidFill>
            <a:srgbClr val="2563EB"/>
          </a:solidFill>
          <a:ln w="12700">
            <a:solidFill>
              <a:srgbClr val="2563EB"/>
            </a:solidFill>
            <a:prstDash val="solid"/>
          </a:ln>
        </p:spPr>
      </p:sp>
      <p:sp>
        <p:nvSpPr>
          <p:cNvPr id="12" name="Text 10"/>
          <p:cNvSpPr/>
          <p:nvPr/>
        </p:nvSpPr>
        <p:spPr>
          <a:xfrm>
            <a:off x="365760" y="210312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Shape 11"/>
          <p:cNvSpPr/>
          <p:nvPr/>
        </p:nvSpPr>
        <p:spPr>
          <a:xfrm>
            <a:off x="896112" y="2103120"/>
            <a:ext cx="3401568" cy="402336"/>
          </a:xfrm>
          <a:prstGeom prst="rect">
            <a:avLst/>
          </a:prstGeom>
          <a:solidFill>
            <a:srgbClr val="FFFFFF"/>
          </a:solidFill>
          <a:ln w="12700">
            <a:solidFill>
              <a:srgbClr val="D1D5DB"/>
            </a:solidFill>
            <a:prstDash val="solid"/>
          </a:ln>
        </p:spPr>
      </p:sp>
      <p:sp>
        <p:nvSpPr>
          <p:cNvPr id="14" name="Text 12"/>
          <p:cNvSpPr/>
          <p:nvPr/>
        </p:nvSpPr>
        <p:spPr>
          <a:xfrm>
            <a:off x="1005840" y="2103120"/>
            <a:ext cx="320040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System Verifies Credentials</a:t>
            </a:r>
            <a:endParaRPr lang="en-US" sz="1150" dirty="0"/>
          </a:p>
        </p:txBody>
      </p:sp>
      <p:sp>
        <p:nvSpPr>
          <p:cNvPr id="15" name="Shape 13"/>
          <p:cNvSpPr/>
          <p:nvPr/>
        </p:nvSpPr>
        <p:spPr>
          <a:xfrm>
            <a:off x="603504" y="2505456"/>
            <a:ext cx="0" cy="192024"/>
          </a:xfrm>
          <a:prstGeom prst="line">
            <a:avLst/>
          </a:prstGeom>
          <a:noFill/>
          <a:ln w="25400">
            <a:solidFill>
              <a:srgbClr val="2563EB"/>
            </a:solidFill>
            <a:prstDash val="solid"/>
          </a:ln>
        </p:spPr>
      </p:sp>
      <p:sp>
        <p:nvSpPr>
          <p:cNvPr id="16" name="Shape 14"/>
          <p:cNvSpPr/>
          <p:nvPr/>
        </p:nvSpPr>
        <p:spPr>
          <a:xfrm>
            <a:off x="365760" y="2697480"/>
            <a:ext cx="475488" cy="402336"/>
          </a:xfrm>
          <a:prstGeom prst="rect">
            <a:avLst/>
          </a:prstGeom>
          <a:solidFill>
            <a:srgbClr val="2563EB"/>
          </a:solidFill>
          <a:ln w="12700">
            <a:solidFill>
              <a:srgbClr val="2563EB"/>
            </a:solidFill>
            <a:prstDash val="solid"/>
          </a:ln>
        </p:spPr>
      </p:sp>
      <p:sp>
        <p:nvSpPr>
          <p:cNvPr id="17" name="Text 15"/>
          <p:cNvSpPr/>
          <p:nvPr/>
        </p:nvSpPr>
        <p:spPr>
          <a:xfrm>
            <a:off x="365760" y="269748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Shape 16"/>
          <p:cNvSpPr/>
          <p:nvPr/>
        </p:nvSpPr>
        <p:spPr>
          <a:xfrm>
            <a:off x="896112" y="2697480"/>
            <a:ext cx="3401568" cy="402336"/>
          </a:xfrm>
          <a:prstGeom prst="rect">
            <a:avLst/>
          </a:prstGeom>
          <a:solidFill>
            <a:srgbClr val="FFFFFF"/>
          </a:solidFill>
          <a:ln w="12700">
            <a:solidFill>
              <a:srgbClr val="D1D5DB"/>
            </a:solidFill>
            <a:prstDash val="solid"/>
          </a:ln>
        </p:spPr>
      </p:sp>
      <p:sp>
        <p:nvSpPr>
          <p:cNvPr id="19" name="Text 17"/>
          <p:cNvSpPr/>
          <p:nvPr/>
        </p:nvSpPr>
        <p:spPr>
          <a:xfrm>
            <a:off x="1005840" y="2697480"/>
            <a:ext cx="320040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OTP Generated Automatically</a:t>
            </a:r>
            <a:endParaRPr lang="en-US" sz="1150" dirty="0"/>
          </a:p>
        </p:txBody>
      </p:sp>
      <p:sp>
        <p:nvSpPr>
          <p:cNvPr id="20" name="Shape 18"/>
          <p:cNvSpPr/>
          <p:nvPr/>
        </p:nvSpPr>
        <p:spPr>
          <a:xfrm>
            <a:off x="603504" y="3099816"/>
            <a:ext cx="0" cy="192024"/>
          </a:xfrm>
          <a:prstGeom prst="line">
            <a:avLst/>
          </a:prstGeom>
          <a:noFill/>
          <a:ln w="25400">
            <a:solidFill>
              <a:srgbClr val="2563EB"/>
            </a:solidFill>
            <a:prstDash val="solid"/>
          </a:ln>
        </p:spPr>
      </p:sp>
      <p:sp>
        <p:nvSpPr>
          <p:cNvPr id="21" name="Shape 19"/>
          <p:cNvSpPr/>
          <p:nvPr/>
        </p:nvSpPr>
        <p:spPr>
          <a:xfrm>
            <a:off x="365760" y="3291840"/>
            <a:ext cx="475488" cy="402336"/>
          </a:xfrm>
          <a:prstGeom prst="rect">
            <a:avLst/>
          </a:prstGeom>
          <a:solidFill>
            <a:srgbClr val="2563EB"/>
          </a:solidFill>
          <a:ln w="12700">
            <a:solidFill>
              <a:srgbClr val="2563EB"/>
            </a:solidFill>
            <a:prstDash val="solid"/>
          </a:ln>
        </p:spPr>
      </p:sp>
      <p:sp>
        <p:nvSpPr>
          <p:cNvPr id="22" name="Text 20"/>
          <p:cNvSpPr/>
          <p:nvPr/>
        </p:nvSpPr>
        <p:spPr>
          <a:xfrm>
            <a:off x="365760" y="329184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Shape 21"/>
          <p:cNvSpPr/>
          <p:nvPr/>
        </p:nvSpPr>
        <p:spPr>
          <a:xfrm>
            <a:off x="896112" y="3291840"/>
            <a:ext cx="3401568" cy="402336"/>
          </a:xfrm>
          <a:prstGeom prst="rect">
            <a:avLst/>
          </a:prstGeom>
          <a:solidFill>
            <a:srgbClr val="FFFFFF"/>
          </a:solidFill>
          <a:ln w="12700">
            <a:solidFill>
              <a:srgbClr val="D1D5DB"/>
            </a:solidFill>
            <a:prstDash val="solid"/>
          </a:ln>
        </p:spPr>
      </p:sp>
      <p:sp>
        <p:nvSpPr>
          <p:cNvPr id="24" name="Text 22"/>
          <p:cNvSpPr/>
          <p:nvPr/>
        </p:nvSpPr>
        <p:spPr>
          <a:xfrm>
            <a:off x="1005840" y="3291840"/>
            <a:ext cx="3200400" cy="402336"/>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OTP Sent to Registered Email</a:t>
            </a:r>
            <a:endParaRPr lang="en-US" sz="1150" dirty="0"/>
          </a:p>
        </p:txBody>
      </p:sp>
      <p:sp>
        <p:nvSpPr>
          <p:cNvPr id="25" name="Shape 23"/>
          <p:cNvSpPr/>
          <p:nvPr/>
        </p:nvSpPr>
        <p:spPr>
          <a:xfrm>
            <a:off x="603504" y="3694176"/>
            <a:ext cx="0" cy="192024"/>
          </a:xfrm>
          <a:prstGeom prst="line">
            <a:avLst/>
          </a:prstGeom>
          <a:noFill/>
          <a:ln w="25400">
            <a:solidFill>
              <a:srgbClr val="2563EB"/>
            </a:solidFill>
            <a:prstDash val="solid"/>
          </a:ln>
        </p:spPr>
      </p:sp>
      <p:sp>
        <p:nvSpPr>
          <p:cNvPr id="26" name="Shape 24"/>
          <p:cNvSpPr/>
          <p:nvPr/>
        </p:nvSpPr>
        <p:spPr>
          <a:xfrm>
            <a:off x="365760" y="3886200"/>
            <a:ext cx="475488" cy="402336"/>
          </a:xfrm>
          <a:prstGeom prst="rect">
            <a:avLst/>
          </a:prstGeom>
          <a:solidFill>
            <a:srgbClr val="2563EB"/>
          </a:solidFill>
          <a:ln w="12700">
            <a:solidFill>
              <a:srgbClr val="2563EB"/>
            </a:solidFill>
            <a:prstDash val="solid"/>
          </a:ln>
        </p:spPr>
      </p:sp>
      <p:sp>
        <p:nvSpPr>
          <p:cNvPr id="27" name="Text 25"/>
          <p:cNvSpPr/>
          <p:nvPr/>
        </p:nvSpPr>
        <p:spPr>
          <a:xfrm>
            <a:off x="365760" y="3886200"/>
            <a:ext cx="475488"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Shape 26"/>
          <p:cNvSpPr/>
          <p:nvPr/>
        </p:nvSpPr>
        <p:spPr>
          <a:xfrm>
            <a:off x="896112" y="3886200"/>
            <a:ext cx="3401568" cy="402336"/>
          </a:xfrm>
          <a:prstGeom prst="rect">
            <a:avLst/>
          </a:prstGeom>
          <a:solidFill>
            <a:srgbClr val="0D9488"/>
          </a:solidFill>
          <a:ln w="12700">
            <a:solidFill>
              <a:srgbClr val="0D9488"/>
            </a:solidFill>
            <a:prstDash val="solid"/>
          </a:ln>
        </p:spPr>
      </p:sp>
      <p:sp>
        <p:nvSpPr>
          <p:cNvPr id="29" name="Text 27"/>
          <p:cNvSpPr/>
          <p:nvPr/>
        </p:nvSpPr>
        <p:spPr>
          <a:xfrm>
            <a:off x="1005840" y="3886200"/>
            <a:ext cx="3200400" cy="402336"/>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Enter OTP → Access Granted</a:t>
            </a:r>
            <a:endParaRPr lang="en-US" sz="1150" dirty="0"/>
          </a:p>
        </p:txBody>
      </p:sp>
      <p:sp>
        <p:nvSpPr>
          <p:cNvPr id="30" name="Shape 28"/>
          <p:cNvSpPr/>
          <p:nvPr/>
        </p:nvSpPr>
        <p:spPr>
          <a:xfrm>
            <a:off x="365760" y="4572000"/>
            <a:ext cx="3931920" cy="384048"/>
          </a:xfrm>
          <a:prstGeom prst="rect">
            <a:avLst/>
          </a:prstGeom>
          <a:solidFill>
            <a:srgbClr val="DBEAFE"/>
          </a:solidFill>
          <a:ln w="12700">
            <a:solidFill>
              <a:srgbClr val="2563EB"/>
            </a:solidFill>
            <a:prstDash val="solid"/>
          </a:ln>
        </p:spPr>
      </p:sp>
      <p:sp>
        <p:nvSpPr>
          <p:cNvPr id="31" name="Text 29"/>
          <p:cNvSpPr/>
          <p:nvPr/>
        </p:nvSpPr>
        <p:spPr>
          <a:xfrm>
            <a:off x="475488" y="4590288"/>
            <a:ext cx="3749040" cy="347472"/>
          </a:xfrm>
          <a:prstGeom prst="rect">
            <a:avLst/>
          </a:prstGeom>
          <a:noFill/>
          <a:ln/>
        </p:spPr>
        <p:txBody>
          <a:bodyPr wrap="square" lIns="0" tIns="0" rIns="0" bIns="0" rtlCol="0" anchor="ctr"/>
          <a:lstStyle/>
          <a:p>
            <a:pPr marL="0" indent="0">
              <a:buNone/>
            </a:pPr>
            <a:r>
              <a:rPr lang="en-US" sz="1000" dirty="0">
                <a:solidFill>
                  <a:srgbClr val="1A2B5E"/>
                </a:solidFill>
                <a:latin typeface="Calibri" pitchFamily="34" charset="0"/>
                <a:ea typeface="Calibri" pitchFamily="34" charset="-122"/>
                <a:cs typeface="Calibri" pitchFamily="34" charset="-120"/>
              </a:rPr>
              <a:t>Registration: Username · Email · Password — all validated for uniqueness and format.</a:t>
            </a:r>
            <a:endParaRPr lang="en-US" sz="1000" dirty="0"/>
          </a:p>
        </p:txBody>
      </p:sp>
      <p:sp>
        <p:nvSpPr>
          <p:cNvPr id="32" name="Text 30"/>
          <p:cNvSpPr/>
          <p:nvPr/>
        </p:nvSpPr>
        <p:spPr>
          <a:xfrm>
            <a:off x="4663440" y="1097280"/>
            <a:ext cx="4206240" cy="320040"/>
          </a:xfrm>
          <a:prstGeom prst="rect">
            <a:avLst/>
          </a:prstGeom>
          <a:noFill/>
          <a:ln/>
        </p:spPr>
        <p:txBody>
          <a:bodyPr wrap="square" lIns="0" tIns="0" rIns="0" bIns="0" rtlCol="0" anchor="ctr"/>
          <a:lstStyle/>
          <a:p>
            <a:pPr marL="0" indent="0">
              <a:buNone/>
            </a:pPr>
            <a:r>
              <a:rPr lang="en-US" sz="1350" b="1" dirty="0">
                <a:solidFill>
                  <a:srgbClr val="1A2B5E"/>
                </a:solidFill>
                <a:latin typeface="Calibri" pitchFamily="34" charset="0"/>
                <a:ea typeface="Calibri" pitchFamily="34" charset="-122"/>
                <a:cs typeface="Calibri" pitchFamily="34" charset="-120"/>
              </a:rPr>
              <a:t>Post-Login Features</a:t>
            </a:r>
            <a:endParaRPr lang="en-US" sz="1350" dirty="0"/>
          </a:p>
        </p:txBody>
      </p:sp>
      <p:sp>
        <p:nvSpPr>
          <p:cNvPr id="33" name="Shape 31"/>
          <p:cNvSpPr/>
          <p:nvPr/>
        </p:nvSpPr>
        <p:spPr>
          <a:xfrm>
            <a:off x="4663440" y="1508760"/>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4" name="Shape 32"/>
          <p:cNvSpPr/>
          <p:nvPr/>
        </p:nvSpPr>
        <p:spPr>
          <a:xfrm>
            <a:off x="4663440" y="1508760"/>
            <a:ext cx="54864" cy="585216"/>
          </a:xfrm>
          <a:prstGeom prst="rect">
            <a:avLst/>
          </a:prstGeom>
          <a:solidFill>
            <a:srgbClr val="0D9488"/>
          </a:solidFill>
          <a:ln w="12700">
            <a:solidFill>
              <a:srgbClr val="0D9488"/>
            </a:solidFill>
            <a:prstDash val="solid"/>
          </a:ln>
        </p:spPr>
      </p:sp>
      <p:sp>
        <p:nvSpPr>
          <p:cNvPr id="35" name="Text 33"/>
          <p:cNvSpPr/>
          <p:nvPr/>
        </p:nvSpPr>
        <p:spPr>
          <a:xfrm>
            <a:off x="4736592" y="1600200"/>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36" name="Text 34"/>
          <p:cNvSpPr/>
          <p:nvPr/>
        </p:nvSpPr>
        <p:spPr>
          <a:xfrm>
            <a:off x="5193792" y="1545336"/>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Search Trains</a:t>
            </a:r>
            <a:endParaRPr lang="en-US" sz="1200" dirty="0"/>
          </a:p>
        </p:txBody>
      </p:sp>
      <p:sp>
        <p:nvSpPr>
          <p:cNvPr id="37" name="Text 35"/>
          <p:cNvSpPr/>
          <p:nvPr/>
        </p:nvSpPr>
        <p:spPr>
          <a:xfrm>
            <a:off x="5193792" y="1819656"/>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Browse all trains with full route details and prices</a:t>
            </a:r>
            <a:endParaRPr lang="en-US" sz="1000" dirty="0"/>
          </a:p>
        </p:txBody>
      </p:sp>
      <p:sp>
        <p:nvSpPr>
          <p:cNvPr id="38" name="Shape 36"/>
          <p:cNvSpPr/>
          <p:nvPr/>
        </p:nvSpPr>
        <p:spPr>
          <a:xfrm>
            <a:off x="4663440" y="2185416"/>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9" name="Shape 37"/>
          <p:cNvSpPr/>
          <p:nvPr/>
        </p:nvSpPr>
        <p:spPr>
          <a:xfrm>
            <a:off x="4663440" y="2185416"/>
            <a:ext cx="54864" cy="585216"/>
          </a:xfrm>
          <a:prstGeom prst="rect">
            <a:avLst/>
          </a:prstGeom>
          <a:solidFill>
            <a:srgbClr val="0D9488"/>
          </a:solidFill>
          <a:ln w="12700">
            <a:solidFill>
              <a:srgbClr val="0D9488"/>
            </a:solidFill>
            <a:prstDash val="solid"/>
          </a:ln>
        </p:spPr>
      </p:sp>
      <p:sp>
        <p:nvSpPr>
          <p:cNvPr id="40" name="Text 38"/>
          <p:cNvSpPr/>
          <p:nvPr/>
        </p:nvSpPr>
        <p:spPr>
          <a:xfrm>
            <a:off x="4736592" y="2276856"/>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41" name="Text 39"/>
          <p:cNvSpPr/>
          <p:nvPr/>
        </p:nvSpPr>
        <p:spPr>
          <a:xfrm>
            <a:off x="5193792" y="2221992"/>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Book Tickets</a:t>
            </a:r>
            <a:endParaRPr lang="en-US" sz="1200" dirty="0"/>
          </a:p>
        </p:txBody>
      </p:sp>
      <p:sp>
        <p:nvSpPr>
          <p:cNvPr id="42" name="Text 40"/>
          <p:cNvSpPr/>
          <p:nvPr/>
        </p:nvSpPr>
        <p:spPr>
          <a:xfrm>
            <a:off x="5193792" y="2496312"/>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Reserve seats for one or more passengers</a:t>
            </a:r>
            <a:endParaRPr lang="en-US" sz="1000" dirty="0"/>
          </a:p>
        </p:txBody>
      </p:sp>
      <p:sp>
        <p:nvSpPr>
          <p:cNvPr id="43" name="Shape 41"/>
          <p:cNvSpPr/>
          <p:nvPr/>
        </p:nvSpPr>
        <p:spPr>
          <a:xfrm>
            <a:off x="4663440" y="2862072"/>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44" name="Shape 42"/>
          <p:cNvSpPr/>
          <p:nvPr/>
        </p:nvSpPr>
        <p:spPr>
          <a:xfrm>
            <a:off x="4663440" y="2862072"/>
            <a:ext cx="54864" cy="585216"/>
          </a:xfrm>
          <a:prstGeom prst="rect">
            <a:avLst/>
          </a:prstGeom>
          <a:solidFill>
            <a:srgbClr val="0D9488"/>
          </a:solidFill>
          <a:ln w="12700">
            <a:solidFill>
              <a:srgbClr val="0D9488"/>
            </a:solidFill>
            <a:prstDash val="solid"/>
          </a:ln>
        </p:spPr>
      </p:sp>
      <p:sp>
        <p:nvSpPr>
          <p:cNvPr id="45" name="Text 43"/>
          <p:cNvSpPr/>
          <p:nvPr/>
        </p:nvSpPr>
        <p:spPr>
          <a:xfrm>
            <a:off x="4736592" y="2953512"/>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46" name="Text 44"/>
          <p:cNvSpPr/>
          <p:nvPr/>
        </p:nvSpPr>
        <p:spPr>
          <a:xfrm>
            <a:off x="5193792" y="2898648"/>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Booking History</a:t>
            </a:r>
            <a:endParaRPr lang="en-US" sz="1200" dirty="0"/>
          </a:p>
        </p:txBody>
      </p:sp>
      <p:sp>
        <p:nvSpPr>
          <p:cNvPr id="47" name="Text 45"/>
          <p:cNvSpPr/>
          <p:nvPr/>
        </p:nvSpPr>
        <p:spPr>
          <a:xfrm>
            <a:off x="5193792" y="3172968"/>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View all past and current reservations</a:t>
            </a:r>
            <a:endParaRPr lang="en-US" sz="1000" dirty="0"/>
          </a:p>
        </p:txBody>
      </p:sp>
      <p:sp>
        <p:nvSpPr>
          <p:cNvPr id="48" name="Shape 46"/>
          <p:cNvSpPr/>
          <p:nvPr/>
        </p:nvSpPr>
        <p:spPr>
          <a:xfrm>
            <a:off x="4663440" y="3538728"/>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49" name="Shape 47"/>
          <p:cNvSpPr/>
          <p:nvPr/>
        </p:nvSpPr>
        <p:spPr>
          <a:xfrm>
            <a:off x="4663440" y="3538728"/>
            <a:ext cx="54864" cy="585216"/>
          </a:xfrm>
          <a:prstGeom prst="rect">
            <a:avLst/>
          </a:prstGeom>
          <a:solidFill>
            <a:srgbClr val="0D9488"/>
          </a:solidFill>
          <a:ln w="12700">
            <a:solidFill>
              <a:srgbClr val="0D9488"/>
            </a:solidFill>
            <a:prstDash val="solid"/>
          </a:ln>
        </p:spPr>
      </p:sp>
      <p:sp>
        <p:nvSpPr>
          <p:cNvPr id="50" name="Text 48"/>
          <p:cNvSpPr/>
          <p:nvPr/>
        </p:nvSpPr>
        <p:spPr>
          <a:xfrm>
            <a:off x="4736592" y="3630168"/>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51" name="Text 49"/>
          <p:cNvSpPr/>
          <p:nvPr/>
        </p:nvSpPr>
        <p:spPr>
          <a:xfrm>
            <a:off x="5193792" y="3575304"/>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Cancel Bookings</a:t>
            </a:r>
            <a:endParaRPr lang="en-US" sz="1200" dirty="0"/>
          </a:p>
        </p:txBody>
      </p:sp>
      <p:sp>
        <p:nvSpPr>
          <p:cNvPr id="52" name="Text 50"/>
          <p:cNvSpPr/>
          <p:nvPr/>
        </p:nvSpPr>
        <p:spPr>
          <a:xfrm>
            <a:off x="5193792" y="3849624"/>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Cancel and auto-restore seat availability</a:t>
            </a:r>
            <a:endParaRPr lang="en-US" sz="1000" dirty="0"/>
          </a:p>
        </p:txBody>
      </p:sp>
      <p:sp>
        <p:nvSpPr>
          <p:cNvPr id="53" name="Shape 51"/>
          <p:cNvSpPr/>
          <p:nvPr/>
        </p:nvSpPr>
        <p:spPr>
          <a:xfrm>
            <a:off x="4663440" y="4215384"/>
            <a:ext cx="4206240" cy="58521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4" name="Shape 52"/>
          <p:cNvSpPr/>
          <p:nvPr/>
        </p:nvSpPr>
        <p:spPr>
          <a:xfrm>
            <a:off x="4663440" y="4215384"/>
            <a:ext cx="54864" cy="585216"/>
          </a:xfrm>
          <a:prstGeom prst="rect">
            <a:avLst/>
          </a:prstGeom>
          <a:solidFill>
            <a:srgbClr val="0D9488"/>
          </a:solidFill>
          <a:ln w="12700">
            <a:solidFill>
              <a:srgbClr val="0D9488"/>
            </a:solidFill>
            <a:prstDash val="solid"/>
          </a:ln>
        </p:spPr>
      </p:sp>
      <p:sp>
        <p:nvSpPr>
          <p:cNvPr id="55" name="Text 53"/>
          <p:cNvSpPr/>
          <p:nvPr/>
        </p:nvSpPr>
        <p:spPr>
          <a:xfrm>
            <a:off x="4736592" y="4306824"/>
            <a:ext cx="402336" cy="365760"/>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56" name="Text 54"/>
          <p:cNvSpPr/>
          <p:nvPr/>
        </p:nvSpPr>
        <p:spPr>
          <a:xfrm>
            <a:off x="5193792" y="4251960"/>
            <a:ext cx="35661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View Tickets</a:t>
            </a:r>
            <a:endParaRPr lang="en-US" sz="1200" dirty="0"/>
          </a:p>
        </p:txBody>
      </p:sp>
      <p:sp>
        <p:nvSpPr>
          <p:cNvPr id="57" name="Text 55"/>
          <p:cNvSpPr/>
          <p:nvPr/>
        </p:nvSpPr>
        <p:spPr>
          <a:xfrm>
            <a:off x="5193792" y="4526280"/>
            <a:ext cx="356616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Access full ticket detail and PNR info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9144"/>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Booking Module </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Train listing, booking form, date validation &amp; seat availability</a:t>
            </a:r>
            <a:endParaRPr lang="en-US" sz="1150" dirty="0"/>
          </a:p>
        </p:txBody>
      </p:sp>
      <p:sp>
        <p:nvSpPr>
          <p:cNvPr id="5" name="Shape 3"/>
          <p:cNvSpPr/>
          <p:nvPr/>
        </p:nvSpPr>
        <p:spPr>
          <a:xfrm>
            <a:off x="320040" y="114300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43000"/>
            <a:ext cx="4206240" cy="54864"/>
          </a:xfrm>
          <a:prstGeom prst="rect">
            <a:avLst/>
          </a:prstGeom>
          <a:solidFill>
            <a:srgbClr val="2563EB"/>
          </a:solidFill>
          <a:ln w="12700">
            <a:solidFill>
              <a:srgbClr val="2563EB"/>
            </a:solidFill>
            <a:prstDash val="solid"/>
          </a:ln>
        </p:spPr>
      </p:sp>
      <p:sp>
        <p:nvSpPr>
          <p:cNvPr id="7" name="Text 5"/>
          <p:cNvSpPr/>
          <p:nvPr/>
        </p:nvSpPr>
        <p:spPr>
          <a:xfrm>
            <a:off x="429768" y="123444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8" name="Text 6"/>
          <p:cNvSpPr/>
          <p:nvPr/>
        </p:nvSpPr>
        <p:spPr>
          <a:xfrm>
            <a:off x="941832" y="125272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Train Listing</a:t>
            </a:r>
            <a:endParaRPr lang="en-US" sz="1300" dirty="0"/>
          </a:p>
        </p:txBody>
      </p:sp>
      <p:sp>
        <p:nvSpPr>
          <p:cNvPr id="9" name="Text 7"/>
          <p:cNvSpPr/>
          <p:nvPr/>
        </p:nvSpPr>
        <p:spPr>
          <a:xfrm>
            <a:off x="457200" y="169164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Every available train is shown with its name, source, destination, departure and arrival times, ticket price, and current seat count. Users have all the information they need to make an informed choice before booking.</a:t>
            </a:r>
            <a:endParaRPr lang="en-US" sz="1100" dirty="0"/>
          </a:p>
        </p:txBody>
      </p:sp>
      <p:sp>
        <p:nvSpPr>
          <p:cNvPr id="10" name="Shape 8"/>
          <p:cNvSpPr/>
          <p:nvPr/>
        </p:nvSpPr>
        <p:spPr>
          <a:xfrm>
            <a:off x="4754880" y="114300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54880" y="1143000"/>
            <a:ext cx="4206240" cy="54864"/>
          </a:xfrm>
          <a:prstGeom prst="rect">
            <a:avLst/>
          </a:prstGeom>
          <a:solidFill>
            <a:srgbClr val="0D9488"/>
          </a:solidFill>
          <a:ln w="12700">
            <a:solidFill>
              <a:srgbClr val="0D9488"/>
            </a:solidFill>
            <a:prstDash val="solid"/>
          </a:ln>
        </p:spPr>
      </p:sp>
      <p:sp>
        <p:nvSpPr>
          <p:cNvPr id="12" name="Text 10"/>
          <p:cNvSpPr/>
          <p:nvPr/>
        </p:nvSpPr>
        <p:spPr>
          <a:xfrm>
            <a:off x="4864608" y="123444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3" name="Text 11"/>
          <p:cNvSpPr/>
          <p:nvPr/>
        </p:nvSpPr>
        <p:spPr>
          <a:xfrm>
            <a:off x="5376672" y="125272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Booking Form &amp; Passenger Details</a:t>
            </a:r>
            <a:endParaRPr lang="en-US" sz="1300" dirty="0"/>
          </a:p>
        </p:txBody>
      </p:sp>
      <p:sp>
        <p:nvSpPr>
          <p:cNvPr id="14" name="Text 12"/>
          <p:cNvSpPr/>
          <p:nvPr/>
        </p:nvSpPr>
        <p:spPr>
          <a:xfrm>
            <a:off x="4892040" y="169164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After selecting a train, the system displays a dynamic booking form. Users enter the travel date, number of passengers, and individual details for each traveller — name, age, and gender. Passenger fields are generated on-the-fly based on count.</a:t>
            </a:r>
            <a:endParaRPr lang="en-US" sz="1100" dirty="0"/>
          </a:p>
        </p:txBody>
      </p:sp>
      <p:sp>
        <p:nvSpPr>
          <p:cNvPr id="15" name="Shape 13"/>
          <p:cNvSpPr/>
          <p:nvPr/>
        </p:nvSpPr>
        <p:spPr>
          <a:xfrm>
            <a:off x="320040" y="306324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320040" y="3063240"/>
            <a:ext cx="4206240" cy="54864"/>
          </a:xfrm>
          <a:prstGeom prst="rect">
            <a:avLst/>
          </a:prstGeom>
          <a:solidFill>
            <a:srgbClr val="F59E0B"/>
          </a:solidFill>
          <a:ln w="12700">
            <a:solidFill>
              <a:srgbClr val="F59E0B"/>
            </a:solidFill>
            <a:prstDash val="solid"/>
          </a:ln>
        </p:spPr>
      </p:sp>
      <p:sp>
        <p:nvSpPr>
          <p:cNvPr id="17" name="Text 15"/>
          <p:cNvSpPr/>
          <p:nvPr/>
        </p:nvSpPr>
        <p:spPr>
          <a:xfrm>
            <a:off x="429768" y="315468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8" name="Text 16"/>
          <p:cNvSpPr/>
          <p:nvPr/>
        </p:nvSpPr>
        <p:spPr>
          <a:xfrm>
            <a:off x="941832" y="317296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Travel Date Validation</a:t>
            </a:r>
            <a:endParaRPr lang="en-US" sz="1300" dirty="0"/>
          </a:p>
        </p:txBody>
      </p:sp>
      <p:sp>
        <p:nvSpPr>
          <p:cNvPr id="19" name="Text 17"/>
          <p:cNvSpPr/>
          <p:nvPr/>
        </p:nvSpPr>
        <p:spPr>
          <a:xfrm>
            <a:off x="457200" y="361188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Before any booking proceeds, the selected travel date is validated. Dates in the past are immediately rejected and a clear error message is displayed. This enforces real-world logical consistency across all reservations.</a:t>
            </a:r>
            <a:endParaRPr lang="en-US" sz="1100" dirty="0"/>
          </a:p>
        </p:txBody>
      </p:sp>
      <p:sp>
        <p:nvSpPr>
          <p:cNvPr id="20" name="Shape 18"/>
          <p:cNvSpPr/>
          <p:nvPr/>
        </p:nvSpPr>
        <p:spPr>
          <a:xfrm>
            <a:off x="4754880" y="306324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754880" y="3063240"/>
            <a:ext cx="4206240" cy="54864"/>
          </a:xfrm>
          <a:prstGeom prst="rect">
            <a:avLst/>
          </a:prstGeom>
          <a:solidFill>
            <a:srgbClr val="1A2B5E"/>
          </a:solidFill>
          <a:ln w="12700">
            <a:solidFill>
              <a:srgbClr val="1A2B5E"/>
            </a:solidFill>
            <a:prstDash val="solid"/>
          </a:ln>
        </p:spPr>
      </p:sp>
      <p:sp>
        <p:nvSpPr>
          <p:cNvPr id="22" name="Text 20"/>
          <p:cNvSpPr/>
          <p:nvPr/>
        </p:nvSpPr>
        <p:spPr>
          <a:xfrm>
            <a:off x="4864608" y="315468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3" name="Text 21"/>
          <p:cNvSpPr/>
          <p:nvPr/>
        </p:nvSpPr>
        <p:spPr>
          <a:xfrm>
            <a:off x="5376672" y="317296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Seat Availability Management</a:t>
            </a:r>
            <a:endParaRPr lang="en-US" sz="1300" dirty="0"/>
          </a:p>
        </p:txBody>
      </p:sp>
      <p:sp>
        <p:nvSpPr>
          <p:cNvPr id="24" name="Text 22"/>
          <p:cNvSpPr/>
          <p:nvPr/>
        </p:nvSpPr>
        <p:spPr>
          <a:xfrm>
            <a:off x="4892040" y="361188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 system verifies sufficient seats are available before confirming any booking. Overbooking is prevented entirely. Once confirmed, the available seat count is decreased and persisted to the database immediately to keep records accurate.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Booking Module </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Seat allocation, PNR generation, booking summary &amp; email confirmation</a:t>
            </a:r>
            <a:endParaRPr lang="en-US" sz="1150" dirty="0"/>
          </a:p>
        </p:txBody>
      </p:sp>
      <p:sp>
        <p:nvSpPr>
          <p:cNvPr id="5" name="Shape 3"/>
          <p:cNvSpPr/>
          <p:nvPr/>
        </p:nvSpPr>
        <p:spPr>
          <a:xfrm>
            <a:off x="320040" y="114300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43000"/>
            <a:ext cx="4206240" cy="54864"/>
          </a:xfrm>
          <a:prstGeom prst="rect">
            <a:avLst/>
          </a:prstGeom>
          <a:solidFill>
            <a:srgbClr val="8B5CF6"/>
          </a:solidFill>
          <a:ln w="12700">
            <a:solidFill>
              <a:srgbClr val="8B5CF6"/>
            </a:solidFill>
            <a:prstDash val="solid"/>
          </a:ln>
        </p:spPr>
      </p:sp>
      <p:sp>
        <p:nvSpPr>
          <p:cNvPr id="7" name="Text 5"/>
          <p:cNvSpPr/>
          <p:nvPr/>
        </p:nvSpPr>
        <p:spPr>
          <a:xfrm>
            <a:off x="429768" y="123444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8" name="Text 6"/>
          <p:cNvSpPr/>
          <p:nvPr/>
        </p:nvSpPr>
        <p:spPr>
          <a:xfrm>
            <a:off x="941832" y="125272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Seat Allocation</a:t>
            </a:r>
            <a:endParaRPr lang="en-US" sz="1300" dirty="0"/>
          </a:p>
        </p:txBody>
      </p:sp>
      <p:sp>
        <p:nvSpPr>
          <p:cNvPr id="9" name="Text 7"/>
          <p:cNvSpPr/>
          <p:nvPr/>
        </p:nvSpPr>
        <p:spPr>
          <a:xfrm>
            <a:off x="457200" y="169164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Seats are assigned sequentially as each booking is confirmed. Passenger 1 gets Seat 1, Passenger 2 gets Seat 2, and so on. These seat numbers are stored with passenger records and displayed on both the booking summary and final ticket view.</a:t>
            </a:r>
            <a:endParaRPr lang="en-US" sz="1100" dirty="0"/>
          </a:p>
        </p:txBody>
      </p:sp>
      <p:sp>
        <p:nvSpPr>
          <p:cNvPr id="10" name="Shape 8"/>
          <p:cNvSpPr/>
          <p:nvPr/>
        </p:nvSpPr>
        <p:spPr>
          <a:xfrm>
            <a:off x="4754880" y="114300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54880" y="1143000"/>
            <a:ext cx="4206240" cy="54864"/>
          </a:xfrm>
          <a:prstGeom prst="rect">
            <a:avLst/>
          </a:prstGeom>
          <a:solidFill>
            <a:srgbClr val="2563EB"/>
          </a:solidFill>
          <a:ln w="12700">
            <a:solidFill>
              <a:srgbClr val="2563EB"/>
            </a:solidFill>
            <a:prstDash val="solid"/>
          </a:ln>
        </p:spPr>
      </p:sp>
      <p:sp>
        <p:nvSpPr>
          <p:cNvPr id="12" name="Text 10"/>
          <p:cNvSpPr/>
          <p:nvPr/>
        </p:nvSpPr>
        <p:spPr>
          <a:xfrm>
            <a:off x="4864608" y="123444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3" name="Text 11"/>
          <p:cNvSpPr/>
          <p:nvPr/>
        </p:nvSpPr>
        <p:spPr>
          <a:xfrm>
            <a:off x="5376672" y="125272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PNR Generation</a:t>
            </a:r>
            <a:endParaRPr lang="en-US" sz="1300" dirty="0"/>
          </a:p>
        </p:txBody>
      </p:sp>
      <p:sp>
        <p:nvSpPr>
          <p:cNvPr id="14" name="Text 12"/>
          <p:cNvSpPr/>
          <p:nvPr/>
        </p:nvSpPr>
        <p:spPr>
          <a:xfrm>
            <a:off x="4892040" y="169164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Every successful booking triggers the creation of a unique Passenger Name Record (PNR) number. The PNR acts as the booking's primary identifier for tracking and retrieval. The system ensures PNR numbers are never duplicated across any records.</a:t>
            </a:r>
            <a:endParaRPr lang="en-US" sz="1100" dirty="0"/>
          </a:p>
        </p:txBody>
      </p:sp>
      <p:sp>
        <p:nvSpPr>
          <p:cNvPr id="15" name="Shape 13"/>
          <p:cNvSpPr/>
          <p:nvPr/>
        </p:nvSpPr>
        <p:spPr>
          <a:xfrm>
            <a:off x="320040" y="306324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320040" y="3063240"/>
            <a:ext cx="4206240" cy="54864"/>
          </a:xfrm>
          <a:prstGeom prst="rect">
            <a:avLst/>
          </a:prstGeom>
          <a:solidFill>
            <a:srgbClr val="0D9488"/>
          </a:solidFill>
          <a:ln w="12700">
            <a:solidFill>
              <a:srgbClr val="0D9488"/>
            </a:solidFill>
            <a:prstDash val="solid"/>
          </a:ln>
        </p:spPr>
      </p:sp>
      <p:sp>
        <p:nvSpPr>
          <p:cNvPr id="17" name="Text 15"/>
          <p:cNvSpPr/>
          <p:nvPr/>
        </p:nvSpPr>
        <p:spPr>
          <a:xfrm>
            <a:off x="429768" y="315468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8" name="Text 16"/>
          <p:cNvSpPr/>
          <p:nvPr/>
        </p:nvSpPr>
        <p:spPr>
          <a:xfrm>
            <a:off x="941832" y="317296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Booking Summary Page</a:t>
            </a:r>
            <a:endParaRPr lang="en-US" sz="1300" dirty="0"/>
          </a:p>
        </p:txBody>
      </p:sp>
      <p:sp>
        <p:nvSpPr>
          <p:cNvPr id="19" name="Text 17"/>
          <p:cNvSpPr/>
          <p:nvPr/>
        </p:nvSpPr>
        <p:spPr>
          <a:xfrm>
            <a:off x="457200" y="361188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After a booking is confirmed, a detailed summary is displayed showing the PNR number, train details, travel date, all passenger information, assigned seat numbers, and the total fare charged — allowing the user to verify everything before moving on.</a:t>
            </a:r>
            <a:endParaRPr lang="en-US" sz="1100" dirty="0"/>
          </a:p>
        </p:txBody>
      </p:sp>
      <p:sp>
        <p:nvSpPr>
          <p:cNvPr id="20" name="Shape 18"/>
          <p:cNvSpPr/>
          <p:nvPr/>
        </p:nvSpPr>
        <p:spPr>
          <a:xfrm>
            <a:off x="4754880" y="3063240"/>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754880" y="3063240"/>
            <a:ext cx="4206240" cy="54864"/>
          </a:xfrm>
          <a:prstGeom prst="rect">
            <a:avLst/>
          </a:prstGeom>
          <a:solidFill>
            <a:srgbClr val="F59E0B"/>
          </a:solidFill>
          <a:ln w="12700">
            <a:solidFill>
              <a:srgbClr val="F59E0B"/>
            </a:solidFill>
            <a:prstDash val="solid"/>
          </a:ln>
        </p:spPr>
      </p:sp>
      <p:sp>
        <p:nvSpPr>
          <p:cNvPr id="22" name="Text 20"/>
          <p:cNvSpPr/>
          <p:nvPr/>
        </p:nvSpPr>
        <p:spPr>
          <a:xfrm>
            <a:off x="4864608" y="3154680"/>
            <a:ext cx="457200"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3" name="Text 21"/>
          <p:cNvSpPr/>
          <p:nvPr/>
        </p:nvSpPr>
        <p:spPr>
          <a:xfrm>
            <a:off x="5376672" y="3172968"/>
            <a:ext cx="3474720" cy="3657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Email Confirmation</a:t>
            </a:r>
            <a:endParaRPr lang="en-US" sz="1300" dirty="0"/>
          </a:p>
        </p:txBody>
      </p:sp>
      <p:sp>
        <p:nvSpPr>
          <p:cNvPr id="24" name="Text 22"/>
          <p:cNvSpPr/>
          <p:nvPr/>
        </p:nvSpPr>
        <p:spPr>
          <a:xfrm>
            <a:off x="4892040" y="3611880"/>
            <a:ext cx="3931920" cy="10972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An automated confirmation email is dispatched immediately after booking. It contains the PNR, all passenger and seat details, and the total fare. This email serves as the official booking record that passengers can reference later.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My Bookings &amp; Cancellation</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How users view, manage, and cancel their reservations</a:t>
            </a:r>
            <a:endParaRPr lang="en-US" sz="1150" dirty="0"/>
          </a:p>
        </p:txBody>
      </p:sp>
      <p:sp>
        <p:nvSpPr>
          <p:cNvPr id="5" name="Shape 3"/>
          <p:cNvSpPr/>
          <p:nvPr/>
        </p:nvSpPr>
        <p:spPr>
          <a:xfrm>
            <a:off x="320040" y="1115568"/>
            <a:ext cx="4160520" cy="36576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15568"/>
            <a:ext cx="4160520" cy="475488"/>
          </a:xfrm>
          <a:prstGeom prst="rect">
            <a:avLst/>
          </a:prstGeom>
          <a:solidFill>
            <a:srgbClr val="1A2B5E"/>
          </a:solidFill>
          <a:ln w="12700">
            <a:solidFill>
              <a:srgbClr val="1A2B5E"/>
            </a:solidFill>
            <a:prstDash val="solid"/>
          </a:ln>
        </p:spPr>
      </p:sp>
      <p:sp>
        <p:nvSpPr>
          <p:cNvPr id="7" name="Text 5"/>
          <p:cNvSpPr/>
          <p:nvPr/>
        </p:nvSpPr>
        <p:spPr>
          <a:xfrm>
            <a:off x="457200" y="1152144"/>
            <a:ext cx="38404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My Bookings</a:t>
            </a:r>
            <a:endParaRPr lang="en-US" sz="1400" dirty="0"/>
          </a:p>
        </p:txBody>
      </p:sp>
      <p:sp>
        <p:nvSpPr>
          <p:cNvPr id="8" name="Text 6"/>
          <p:cNvSpPr/>
          <p:nvPr/>
        </p:nvSpPr>
        <p:spPr>
          <a:xfrm>
            <a:off x="457200" y="1755648"/>
            <a:ext cx="411480" cy="402336"/>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9" name="Text 7"/>
          <p:cNvSpPr/>
          <p:nvPr/>
        </p:nvSpPr>
        <p:spPr>
          <a:xfrm>
            <a:off x="932688" y="1719072"/>
            <a:ext cx="33832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View All Bookings</a:t>
            </a:r>
            <a:endParaRPr lang="en-US" sz="1200" dirty="0"/>
          </a:p>
        </p:txBody>
      </p:sp>
      <p:sp>
        <p:nvSpPr>
          <p:cNvPr id="10" name="Text 8"/>
          <p:cNvSpPr/>
          <p:nvPr/>
        </p:nvSpPr>
        <p:spPr>
          <a:xfrm>
            <a:off x="932688" y="2011680"/>
            <a:ext cx="338328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Full list of all past and active reservations in one place</a:t>
            </a:r>
            <a:endParaRPr lang="en-US" sz="1050" dirty="0"/>
          </a:p>
        </p:txBody>
      </p:sp>
      <p:sp>
        <p:nvSpPr>
          <p:cNvPr id="11" name="Text 9"/>
          <p:cNvSpPr/>
          <p:nvPr/>
        </p:nvSpPr>
        <p:spPr>
          <a:xfrm>
            <a:off x="457200" y="2505456"/>
            <a:ext cx="411480" cy="402336"/>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2" name="Text 10"/>
          <p:cNvSpPr/>
          <p:nvPr/>
        </p:nvSpPr>
        <p:spPr>
          <a:xfrm>
            <a:off x="932688" y="2468880"/>
            <a:ext cx="33832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Ticket Details</a:t>
            </a:r>
            <a:endParaRPr lang="en-US" sz="1200" dirty="0"/>
          </a:p>
        </p:txBody>
      </p:sp>
      <p:sp>
        <p:nvSpPr>
          <p:cNvPr id="13" name="Text 11"/>
          <p:cNvSpPr/>
          <p:nvPr/>
        </p:nvSpPr>
        <p:spPr>
          <a:xfrm>
            <a:off x="932688" y="2761488"/>
            <a:ext cx="338328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PNR, seat numbers, fare, and train info per booking</a:t>
            </a:r>
            <a:endParaRPr lang="en-US" sz="1050" dirty="0"/>
          </a:p>
        </p:txBody>
      </p:sp>
      <p:sp>
        <p:nvSpPr>
          <p:cNvPr id="14" name="Text 12"/>
          <p:cNvSpPr/>
          <p:nvPr/>
        </p:nvSpPr>
        <p:spPr>
          <a:xfrm>
            <a:off x="457200" y="3255264"/>
            <a:ext cx="411480" cy="402336"/>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5" name="Text 13"/>
          <p:cNvSpPr/>
          <p:nvPr/>
        </p:nvSpPr>
        <p:spPr>
          <a:xfrm>
            <a:off x="932688" y="3218688"/>
            <a:ext cx="33832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Restricted to Owner</a:t>
            </a:r>
            <a:endParaRPr lang="en-US" sz="1200" dirty="0"/>
          </a:p>
        </p:txBody>
      </p:sp>
      <p:sp>
        <p:nvSpPr>
          <p:cNvPr id="16" name="Text 14"/>
          <p:cNvSpPr/>
          <p:nvPr/>
        </p:nvSpPr>
        <p:spPr>
          <a:xfrm>
            <a:off x="932688" y="3511296"/>
            <a:ext cx="338328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Only the authenticated user who booked can see their records</a:t>
            </a:r>
            <a:endParaRPr lang="en-US" sz="1050" dirty="0"/>
          </a:p>
        </p:txBody>
      </p:sp>
      <p:sp>
        <p:nvSpPr>
          <p:cNvPr id="17" name="Text 15"/>
          <p:cNvSpPr/>
          <p:nvPr/>
        </p:nvSpPr>
        <p:spPr>
          <a:xfrm>
            <a:off x="457200" y="4005072"/>
            <a:ext cx="411480" cy="402336"/>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8" name="Text 16"/>
          <p:cNvSpPr/>
          <p:nvPr/>
        </p:nvSpPr>
        <p:spPr>
          <a:xfrm>
            <a:off x="932688" y="3968496"/>
            <a:ext cx="338328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Persistent Records</a:t>
            </a:r>
            <a:endParaRPr lang="en-US" sz="1200" dirty="0"/>
          </a:p>
        </p:txBody>
      </p:sp>
      <p:sp>
        <p:nvSpPr>
          <p:cNvPr id="19" name="Text 17"/>
          <p:cNvSpPr/>
          <p:nvPr/>
        </p:nvSpPr>
        <p:spPr>
          <a:xfrm>
            <a:off x="932688" y="4261104"/>
            <a:ext cx="338328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Booking data securely linked to the user account permanently</a:t>
            </a:r>
            <a:endParaRPr lang="en-US" sz="1050" dirty="0"/>
          </a:p>
        </p:txBody>
      </p:sp>
      <p:sp>
        <p:nvSpPr>
          <p:cNvPr id="20" name="Shape 18"/>
          <p:cNvSpPr/>
          <p:nvPr/>
        </p:nvSpPr>
        <p:spPr>
          <a:xfrm>
            <a:off x="4663440" y="1115568"/>
            <a:ext cx="4160520" cy="36576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663440" y="1115568"/>
            <a:ext cx="4160520" cy="475488"/>
          </a:xfrm>
          <a:prstGeom prst="rect">
            <a:avLst/>
          </a:prstGeom>
          <a:solidFill>
            <a:srgbClr val="EF4444"/>
          </a:solidFill>
          <a:ln w="12700">
            <a:solidFill>
              <a:srgbClr val="EF4444"/>
            </a:solidFill>
            <a:prstDash val="solid"/>
          </a:ln>
        </p:spPr>
      </p:sp>
      <p:sp>
        <p:nvSpPr>
          <p:cNvPr id="22" name="Text 20"/>
          <p:cNvSpPr/>
          <p:nvPr/>
        </p:nvSpPr>
        <p:spPr>
          <a:xfrm>
            <a:off x="4800600" y="1152144"/>
            <a:ext cx="38404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Booking Cancellation</a:t>
            </a:r>
            <a:endParaRPr lang="en-US" sz="1400" dirty="0"/>
          </a:p>
        </p:txBody>
      </p:sp>
      <p:sp>
        <p:nvSpPr>
          <p:cNvPr id="23" name="Shape 21"/>
          <p:cNvSpPr/>
          <p:nvPr/>
        </p:nvSpPr>
        <p:spPr>
          <a:xfrm>
            <a:off x="4773168" y="1719072"/>
            <a:ext cx="347472" cy="347472"/>
          </a:xfrm>
          <a:prstGeom prst="rect">
            <a:avLst/>
          </a:prstGeom>
          <a:solidFill>
            <a:srgbClr val="EF4444"/>
          </a:solidFill>
          <a:ln w="12700">
            <a:solidFill>
              <a:srgbClr val="EF4444"/>
            </a:solidFill>
            <a:prstDash val="solid"/>
          </a:ln>
        </p:spPr>
      </p:sp>
      <p:sp>
        <p:nvSpPr>
          <p:cNvPr id="24" name="Text 22"/>
          <p:cNvSpPr/>
          <p:nvPr/>
        </p:nvSpPr>
        <p:spPr>
          <a:xfrm>
            <a:off x="4773168" y="171907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5" name="Text 23"/>
          <p:cNvSpPr/>
          <p:nvPr/>
        </p:nvSpPr>
        <p:spPr>
          <a:xfrm>
            <a:off x="5193792" y="174650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Select booking from My Bookings list</a:t>
            </a:r>
            <a:endParaRPr lang="en-US" sz="1150" dirty="0"/>
          </a:p>
        </p:txBody>
      </p:sp>
      <p:sp>
        <p:nvSpPr>
          <p:cNvPr id="26" name="Shape 24"/>
          <p:cNvSpPr/>
          <p:nvPr/>
        </p:nvSpPr>
        <p:spPr>
          <a:xfrm>
            <a:off x="4946904" y="2066544"/>
            <a:ext cx="0" cy="246888"/>
          </a:xfrm>
          <a:prstGeom prst="line">
            <a:avLst/>
          </a:prstGeom>
          <a:noFill/>
          <a:ln w="19050">
            <a:solidFill>
              <a:srgbClr val="EF4444"/>
            </a:solidFill>
            <a:prstDash val="solid"/>
          </a:ln>
        </p:spPr>
      </p:sp>
      <p:sp>
        <p:nvSpPr>
          <p:cNvPr id="27" name="Shape 25"/>
          <p:cNvSpPr/>
          <p:nvPr/>
        </p:nvSpPr>
        <p:spPr>
          <a:xfrm>
            <a:off x="4773168" y="2313432"/>
            <a:ext cx="347472" cy="347472"/>
          </a:xfrm>
          <a:prstGeom prst="rect">
            <a:avLst/>
          </a:prstGeom>
          <a:solidFill>
            <a:srgbClr val="EF4444"/>
          </a:solidFill>
          <a:ln w="12700">
            <a:solidFill>
              <a:srgbClr val="EF4444"/>
            </a:solidFill>
            <a:prstDash val="solid"/>
          </a:ln>
        </p:spPr>
      </p:sp>
      <p:sp>
        <p:nvSpPr>
          <p:cNvPr id="28" name="Text 26"/>
          <p:cNvSpPr/>
          <p:nvPr/>
        </p:nvSpPr>
        <p:spPr>
          <a:xfrm>
            <a:off x="4773168" y="23134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9" name="Text 27"/>
          <p:cNvSpPr/>
          <p:nvPr/>
        </p:nvSpPr>
        <p:spPr>
          <a:xfrm>
            <a:off x="5193792" y="234086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Click the Cancel button on the booking</a:t>
            </a:r>
            <a:endParaRPr lang="en-US" sz="1150" dirty="0"/>
          </a:p>
        </p:txBody>
      </p:sp>
      <p:sp>
        <p:nvSpPr>
          <p:cNvPr id="30" name="Shape 28"/>
          <p:cNvSpPr/>
          <p:nvPr/>
        </p:nvSpPr>
        <p:spPr>
          <a:xfrm>
            <a:off x="4946904" y="2660904"/>
            <a:ext cx="0" cy="246888"/>
          </a:xfrm>
          <a:prstGeom prst="line">
            <a:avLst/>
          </a:prstGeom>
          <a:noFill/>
          <a:ln w="19050">
            <a:solidFill>
              <a:srgbClr val="EF4444"/>
            </a:solidFill>
            <a:prstDash val="solid"/>
          </a:ln>
        </p:spPr>
      </p:sp>
      <p:sp>
        <p:nvSpPr>
          <p:cNvPr id="31" name="Shape 29"/>
          <p:cNvSpPr/>
          <p:nvPr/>
        </p:nvSpPr>
        <p:spPr>
          <a:xfrm>
            <a:off x="4773168" y="2907792"/>
            <a:ext cx="347472" cy="347472"/>
          </a:xfrm>
          <a:prstGeom prst="rect">
            <a:avLst/>
          </a:prstGeom>
          <a:solidFill>
            <a:srgbClr val="EF4444"/>
          </a:solidFill>
          <a:ln w="12700">
            <a:solidFill>
              <a:srgbClr val="EF4444"/>
            </a:solidFill>
            <a:prstDash val="solid"/>
          </a:ln>
        </p:spPr>
      </p:sp>
      <p:sp>
        <p:nvSpPr>
          <p:cNvPr id="32" name="Text 30"/>
          <p:cNvSpPr/>
          <p:nvPr/>
        </p:nvSpPr>
        <p:spPr>
          <a:xfrm>
            <a:off x="4773168" y="290779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Text 31"/>
          <p:cNvSpPr/>
          <p:nvPr/>
        </p:nvSpPr>
        <p:spPr>
          <a:xfrm>
            <a:off x="5193792" y="293522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System removes the booking record</a:t>
            </a:r>
            <a:endParaRPr lang="en-US" sz="1150" dirty="0"/>
          </a:p>
        </p:txBody>
      </p:sp>
      <p:sp>
        <p:nvSpPr>
          <p:cNvPr id="34" name="Shape 32"/>
          <p:cNvSpPr/>
          <p:nvPr/>
        </p:nvSpPr>
        <p:spPr>
          <a:xfrm>
            <a:off x="4946904" y="3255264"/>
            <a:ext cx="0" cy="246888"/>
          </a:xfrm>
          <a:prstGeom prst="line">
            <a:avLst/>
          </a:prstGeom>
          <a:noFill/>
          <a:ln w="19050">
            <a:solidFill>
              <a:srgbClr val="EF4444"/>
            </a:solidFill>
            <a:prstDash val="solid"/>
          </a:ln>
        </p:spPr>
      </p:sp>
      <p:sp>
        <p:nvSpPr>
          <p:cNvPr id="35" name="Shape 33"/>
          <p:cNvSpPr/>
          <p:nvPr/>
        </p:nvSpPr>
        <p:spPr>
          <a:xfrm>
            <a:off x="4773168" y="3502152"/>
            <a:ext cx="347472" cy="347472"/>
          </a:xfrm>
          <a:prstGeom prst="rect">
            <a:avLst/>
          </a:prstGeom>
          <a:solidFill>
            <a:srgbClr val="EF4444"/>
          </a:solidFill>
          <a:ln w="12700">
            <a:solidFill>
              <a:srgbClr val="EF4444"/>
            </a:solidFill>
            <a:prstDash val="solid"/>
          </a:ln>
        </p:spPr>
      </p:sp>
      <p:sp>
        <p:nvSpPr>
          <p:cNvPr id="36" name="Text 34"/>
          <p:cNvSpPr/>
          <p:nvPr/>
        </p:nvSpPr>
        <p:spPr>
          <a:xfrm>
            <a:off x="4773168" y="350215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7" name="Text 35"/>
          <p:cNvSpPr/>
          <p:nvPr/>
        </p:nvSpPr>
        <p:spPr>
          <a:xfrm>
            <a:off x="5193792" y="352958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Seats automatically restored to pool</a:t>
            </a:r>
            <a:endParaRPr lang="en-US" sz="1150" dirty="0"/>
          </a:p>
        </p:txBody>
      </p:sp>
      <p:sp>
        <p:nvSpPr>
          <p:cNvPr id="38" name="Shape 36"/>
          <p:cNvSpPr/>
          <p:nvPr/>
        </p:nvSpPr>
        <p:spPr>
          <a:xfrm>
            <a:off x="4946904" y="3849624"/>
            <a:ext cx="0" cy="246888"/>
          </a:xfrm>
          <a:prstGeom prst="line">
            <a:avLst/>
          </a:prstGeom>
          <a:noFill/>
          <a:ln w="19050">
            <a:solidFill>
              <a:srgbClr val="EF4444"/>
            </a:solidFill>
            <a:prstDash val="solid"/>
          </a:ln>
        </p:spPr>
      </p:sp>
      <p:sp>
        <p:nvSpPr>
          <p:cNvPr id="39" name="Shape 37"/>
          <p:cNvSpPr/>
          <p:nvPr/>
        </p:nvSpPr>
        <p:spPr>
          <a:xfrm>
            <a:off x="4773168" y="4096512"/>
            <a:ext cx="347472" cy="347472"/>
          </a:xfrm>
          <a:prstGeom prst="rect">
            <a:avLst/>
          </a:prstGeom>
          <a:solidFill>
            <a:srgbClr val="EF4444"/>
          </a:solidFill>
          <a:ln w="12700">
            <a:solidFill>
              <a:srgbClr val="EF4444"/>
            </a:solidFill>
            <a:prstDash val="solid"/>
          </a:ln>
        </p:spPr>
      </p:sp>
      <p:sp>
        <p:nvSpPr>
          <p:cNvPr id="40" name="Text 38"/>
          <p:cNvSpPr/>
          <p:nvPr/>
        </p:nvSpPr>
        <p:spPr>
          <a:xfrm>
            <a:off x="4773168" y="409651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1" name="Text 39"/>
          <p:cNvSpPr/>
          <p:nvPr/>
        </p:nvSpPr>
        <p:spPr>
          <a:xfrm>
            <a:off x="5193792" y="4123944"/>
            <a:ext cx="3566160" cy="329184"/>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Seat availability updated in real-time</a:t>
            </a:r>
            <a:endParaRPr lang="en-US" sz="1150" dirty="0"/>
          </a:p>
        </p:txBody>
      </p:sp>
      <p:sp>
        <p:nvSpPr>
          <p:cNvPr id="42" name="Shape 40"/>
          <p:cNvSpPr/>
          <p:nvPr/>
        </p:nvSpPr>
        <p:spPr>
          <a:xfrm>
            <a:off x="4663440" y="4681728"/>
            <a:ext cx="4160520" cy="320040"/>
          </a:xfrm>
          <a:prstGeom prst="rect">
            <a:avLst/>
          </a:prstGeom>
          <a:solidFill>
            <a:srgbClr val="FEF2F2"/>
          </a:solidFill>
          <a:ln w="12700">
            <a:solidFill>
              <a:srgbClr val="FCA5A5"/>
            </a:solidFill>
            <a:prstDash val="solid"/>
          </a:ln>
        </p:spPr>
      </p:sp>
      <p:sp>
        <p:nvSpPr>
          <p:cNvPr id="43" name="Text 41"/>
          <p:cNvSpPr/>
          <p:nvPr/>
        </p:nvSpPr>
        <p:spPr>
          <a:xfrm>
            <a:off x="4773168" y="4700016"/>
            <a:ext cx="3977640" cy="274320"/>
          </a:xfrm>
          <a:prstGeom prst="rect">
            <a:avLst/>
          </a:prstGeom>
          <a:noFill/>
          <a:ln/>
        </p:spPr>
        <p:txBody>
          <a:bodyPr wrap="square" lIns="0" tIns="0" rIns="0" bIns="0" rtlCol="0" anchor="ctr"/>
          <a:lstStyle/>
          <a:p>
            <a:pPr marL="0" indent="0">
              <a:buNone/>
            </a:pPr>
            <a:r>
              <a:rPr lang="en-US" sz="1000" i="1" dirty="0">
                <a:solidFill>
                  <a:srgbClr val="EF4444"/>
                </a:solidFill>
                <a:latin typeface="Calibri" pitchFamily="34" charset="0"/>
                <a:ea typeface="Calibri" pitchFamily="34" charset="-122"/>
                <a:cs typeface="Calibri" pitchFamily="34" charset="-120"/>
              </a:rPr>
              <a:t>Cancellations instantly restore seat counts, keeping availability accurate for all users.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Admin Module — Overview</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Separate authentication, centralised dashboard, and monitoring</a:t>
            </a:r>
            <a:endParaRPr lang="en-US" sz="1150" dirty="0"/>
          </a:p>
        </p:txBody>
      </p:sp>
      <p:sp>
        <p:nvSpPr>
          <p:cNvPr id="5" name="Text 3"/>
          <p:cNvSpPr/>
          <p:nvPr/>
        </p:nvSpPr>
        <p:spPr>
          <a:xfrm>
            <a:off x="365760" y="1143000"/>
            <a:ext cx="8412480" cy="777240"/>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The Admin Module runs completely independently from the user-facing platform — separate credentials, separate session keys, and fully protected routes ensure only authorised administrators can access management functions.</a:t>
            </a:r>
            <a:endParaRPr lang="en-US" sz="1250" dirty="0"/>
          </a:p>
        </p:txBody>
      </p:sp>
      <p:sp>
        <p:nvSpPr>
          <p:cNvPr id="6" name="Shape 4"/>
          <p:cNvSpPr/>
          <p:nvPr/>
        </p:nvSpPr>
        <p:spPr>
          <a:xfrm>
            <a:off x="320040" y="2084832"/>
            <a:ext cx="4160520" cy="2834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7" name="Shape 5"/>
          <p:cNvSpPr/>
          <p:nvPr/>
        </p:nvSpPr>
        <p:spPr>
          <a:xfrm>
            <a:off x="320040" y="2084832"/>
            <a:ext cx="4160520" cy="457200"/>
          </a:xfrm>
          <a:prstGeom prst="rect">
            <a:avLst/>
          </a:prstGeom>
          <a:solidFill>
            <a:srgbClr val="1A2B5E"/>
          </a:solidFill>
          <a:ln w="12700">
            <a:solidFill>
              <a:srgbClr val="1A2B5E"/>
            </a:solidFill>
            <a:prstDash val="solid"/>
          </a:ln>
        </p:spPr>
      </p:sp>
      <p:sp>
        <p:nvSpPr>
          <p:cNvPr id="8" name="Text 6"/>
          <p:cNvSpPr/>
          <p:nvPr/>
        </p:nvSpPr>
        <p:spPr>
          <a:xfrm>
            <a:off x="457200" y="2112264"/>
            <a:ext cx="3840480" cy="40233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Admin Authentication</a:t>
            </a:r>
            <a:endParaRPr lang="en-US" sz="1350" dirty="0"/>
          </a:p>
        </p:txBody>
      </p:sp>
      <p:sp>
        <p:nvSpPr>
          <p:cNvPr id="9" name="Shape 7"/>
          <p:cNvSpPr/>
          <p:nvPr/>
        </p:nvSpPr>
        <p:spPr>
          <a:xfrm>
            <a:off x="484632" y="2688336"/>
            <a:ext cx="54864" cy="237744"/>
          </a:xfrm>
          <a:prstGeom prst="rect">
            <a:avLst/>
          </a:prstGeom>
          <a:solidFill>
            <a:srgbClr val="1A2B5E"/>
          </a:solidFill>
          <a:ln w="12700">
            <a:solidFill>
              <a:srgbClr val="1A2B5E"/>
            </a:solidFill>
            <a:prstDash val="solid"/>
          </a:ln>
        </p:spPr>
      </p:sp>
      <p:sp>
        <p:nvSpPr>
          <p:cNvPr id="10" name="Text 8"/>
          <p:cNvSpPr/>
          <p:nvPr/>
        </p:nvSpPr>
        <p:spPr>
          <a:xfrm>
            <a:off x="630936" y="2670048"/>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Completely separate login from regular users</a:t>
            </a:r>
            <a:endParaRPr lang="en-US" sz="1100" dirty="0"/>
          </a:p>
        </p:txBody>
      </p:sp>
      <p:sp>
        <p:nvSpPr>
          <p:cNvPr id="11" name="Shape 9"/>
          <p:cNvSpPr/>
          <p:nvPr/>
        </p:nvSpPr>
        <p:spPr>
          <a:xfrm>
            <a:off x="484632" y="3127248"/>
            <a:ext cx="54864" cy="237744"/>
          </a:xfrm>
          <a:prstGeom prst="rect">
            <a:avLst/>
          </a:prstGeom>
          <a:solidFill>
            <a:srgbClr val="1A2B5E"/>
          </a:solidFill>
          <a:ln w="12700">
            <a:solidFill>
              <a:srgbClr val="1A2B5E"/>
            </a:solidFill>
            <a:prstDash val="solid"/>
          </a:ln>
        </p:spPr>
      </p:sp>
      <p:sp>
        <p:nvSpPr>
          <p:cNvPr id="12" name="Text 10"/>
          <p:cNvSpPr/>
          <p:nvPr/>
        </p:nvSpPr>
        <p:spPr>
          <a:xfrm>
            <a:off x="630936" y="3108960"/>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Credentials stored independently in the database</a:t>
            </a:r>
            <a:endParaRPr lang="en-US" sz="1100" dirty="0"/>
          </a:p>
        </p:txBody>
      </p:sp>
      <p:sp>
        <p:nvSpPr>
          <p:cNvPr id="13" name="Shape 11"/>
          <p:cNvSpPr/>
          <p:nvPr/>
        </p:nvSpPr>
        <p:spPr>
          <a:xfrm>
            <a:off x="484632" y="3566160"/>
            <a:ext cx="54864" cy="237744"/>
          </a:xfrm>
          <a:prstGeom prst="rect">
            <a:avLst/>
          </a:prstGeom>
          <a:solidFill>
            <a:srgbClr val="1A2B5E"/>
          </a:solidFill>
          <a:ln w="12700">
            <a:solidFill>
              <a:srgbClr val="1A2B5E"/>
            </a:solidFill>
            <a:prstDash val="solid"/>
          </a:ln>
        </p:spPr>
      </p:sp>
      <p:sp>
        <p:nvSpPr>
          <p:cNvPr id="14" name="Text 12"/>
          <p:cNvSpPr/>
          <p:nvPr/>
        </p:nvSpPr>
        <p:spPr>
          <a:xfrm>
            <a:off x="630936" y="3547872"/>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Different session key from standard user sessions</a:t>
            </a:r>
            <a:endParaRPr lang="en-US" sz="1100" dirty="0"/>
          </a:p>
        </p:txBody>
      </p:sp>
      <p:sp>
        <p:nvSpPr>
          <p:cNvPr id="15" name="Shape 13"/>
          <p:cNvSpPr/>
          <p:nvPr/>
        </p:nvSpPr>
        <p:spPr>
          <a:xfrm>
            <a:off x="484632" y="4005072"/>
            <a:ext cx="54864" cy="237744"/>
          </a:xfrm>
          <a:prstGeom prst="rect">
            <a:avLst/>
          </a:prstGeom>
          <a:solidFill>
            <a:srgbClr val="1A2B5E"/>
          </a:solidFill>
          <a:ln w="12700">
            <a:solidFill>
              <a:srgbClr val="1A2B5E"/>
            </a:solidFill>
            <a:prstDash val="solid"/>
          </a:ln>
        </p:spPr>
      </p:sp>
      <p:sp>
        <p:nvSpPr>
          <p:cNvPr id="16" name="Text 14"/>
          <p:cNvSpPr/>
          <p:nvPr/>
        </p:nvSpPr>
        <p:spPr>
          <a:xfrm>
            <a:off x="630936" y="3986784"/>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No admin page accessible without valid admin login</a:t>
            </a:r>
            <a:endParaRPr lang="en-US" sz="1100" dirty="0"/>
          </a:p>
        </p:txBody>
      </p:sp>
      <p:sp>
        <p:nvSpPr>
          <p:cNvPr id="17" name="Shape 15"/>
          <p:cNvSpPr/>
          <p:nvPr/>
        </p:nvSpPr>
        <p:spPr>
          <a:xfrm>
            <a:off x="484632" y="4443984"/>
            <a:ext cx="54864" cy="237744"/>
          </a:xfrm>
          <a:prstGeom prst="rect">
            <a:avLst/>
          </a:prstGeom>
          <a:solidFill>
            <a:srgbClr val="1A2B5E"/>
          </a:solidFill>
          <a:ln w="12700">
            <a:solidFill>
              <a:srgbClr val="1A2B5E"/>
            </a:solidFill>
            <a:prstDash val="solid"/>
          </a:ln>
        </p:spPr>
      </p:sp>
      <p:sp>
        <p:nvSpPr>
          <p:cNvPr id="18" name="Text 16"/>
          <p:cNvSpPr/>
          <p:nvPr/>
        </p:nvSpPr>
        <p:spPr>
          <a:xfrm>
            <a:off x="630936" y="4425696"/>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Enforces strict role-based access control throughout</a:t>
            </a:r>
            <a:endParaRPr lang="en-US" sz="1100" dirty="0"/>
          </a:p>
        </p:txBody>
      </p:sp>
      <p:sp>
        <p:nvSpPr>
          <p:cNvPr id="19" name="Shape 17"/>
          <p:cNvSpPr/>
          <p:nvPr/>
        </p:nvSpPr>
        <p:spPr>
          <a:xfrm>
            <a:off x="4663440" y="2084832"/>
            <a:ext cx="4160520" cy="2834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4663440" y="2084832"/>
            <a:ext cx="4160520" cy="457200"/>
          </a:xfrm>
          <a:prstGeom prst="rect">
            <a:avLst/>
          </a:prstGeom>
          <a:solidFill>
            <a:srgbClr val="2563EB"/>
          </a:solidFill>
          <a:ln w="12700">
            <a:solidFill>
              <a:srgbClr val="2563EB"/>
            </a:solidFill>
            <a:prstDash val="solid"/>
          </a:ln>
        </p:spPr>
      </p:sp>
      <p:sp>
        <p:nvSpPr>
          <p:cNvPr id="21" name="Text 19"/>
          <p:cNvSpPr/>
          <p:nvPr/>
        </p:nvSpPr>
        <p:spPr>
          <a:xfrm>
            <a:off x="4800600" y="2112264"/>
            <a:ext cx="3840480" cy="40233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Admin Dashboard</a:t>
            </a:r>
            <a:endParaRPr lang="en-US" sz="1350" dirty="0"/>
          </a:p>
        </p:txBody>
      </p:sp>
      <p:sp>
        <p:nvSpPr>
          <p:cNvPr id="22" name="Shape 20"/>
          <p:cNvSpPr/>
          <p:nvPr/>
        </p:nvSpPr>
        <p:spPr>
          <a:xfrm>
            <a:off x="4828032" y="2688336"/>
            <a:ext cx="54864" cy="237744"/>
          </a:xfrm>
          <a:prstGeom prst="rect">
            <a:avLst/>
          </a:prstGeom>
          <a:solidFill>
            <a:srgbClr val="2563EB"/>
          </a:solidFill>
          <a:ln w="12700">
            <a:solidFill>
              <a:srgbClr val="2563EB"/>
            </a:solidFill>
            <a:prstDash val="solid"/>
          </a:ln>
        </p:spPr>
      </p:sp>
      <p:sp>
        <p:nvSpPr>
          <p:cNvPr id="23" name="Text 21"/>
          <p:cNvSpPr/>
          <p:nvPr/>
        </p:nvSpPr>
        <p:spPr>
          <a:xfrm>
            <a:off x="4974336" y="2670048"/>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Displays total number of registered users</a:t>
            </a:r>
            <a:endParaRPr lang="en-US" sz="1100" dirty="0"/>
          </a:p>
        </p:txBody>
      </p:sp>
      <p:sp>
        <p:nvSpPr>
          <p:cNvPr id="24" name="Shape 22"/>
          <p:cNvSpPr/>
          <p:nvPr/>
        </p:nvSpPr>
        <p:spPr>
          <a:xfrm>
            <a:off x="4828032" y="3127248"/>
            <a:ext cx="54864" cy="237744"/>
          </a:xfrm>
          <a:prstGeom prst="rect">
            <a:avLst/>
          </a:prstGeom>
          <a:solidFill>
            <a:srgbClr val="2563EB"/>
          </a:solidFill>
          <a:ln w="12700">
            <a:solidFill>
              <a:srgbClr val="2563EB"/>
            </a:solidFill>
            <a:prstDash val="solid"/>
          </a:ln>
        </p:spPr>
      </p:sp>
      <p:sp>
        <p:nvSpPr>
          <p:cNvPr id="25" name="Text 23"/>
          <p:cNvSpPr/>
          <p:nvPr/>
        </p:nvSpPr>
        <p:spPr>
          <a:xfrm>
            <a:off x="4974336" y="3108960"/>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Shows total number of trains in the system</a:t>
            </a:r>
            <a:endParaRPr lang="en-US" sz="1100" dirty="0"/>
          </a:p>
        </p:txBody>
      </p:sp>
      <p:sp>
        <p:nvSpPr>
          <p:cNvPr id="26" name="Shape 24"/>
          <p:cNvSpPr/>
          <p:nvPr/>
        </p:nvSpPr>
        <p:spPr>
          <a:xfrm>
            <a:off x="4828032" y="3566160"/>
            <a:ext cx="54864" cy="237744"/>
          </a:xfrm>
          <a:prstGeom prst="rect">
            <a:avLst/>
          </a:prstGeom>
          <a:solidFill>
            <a:srgbClr val="2563EB"/>
          </a:solidFill>
          <a:ln w="12700">
            <a:solidFill>
              <a:srgbClr val="2563EB"/>
            </a:solidFill>
            <a:prstDash val="solid"/>
          </a:ln>
        </p:spPr>
      </p:sp>
      <p:sp>
        <p:nvSpPr>
          <p:cNvPr id="27" name="Text 25"/>
          <p:cNvSpPr/>
          <p:nvPr/>
        </p:nvSpPr>
        <p:spPr>
          <a:xfrm>
            <a:off x="4974336" y="3547872"/>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Summarises all platform-wide bookings</a:t>
            </a:r>
            <a:endParaRPr lang="en-US" sz="1100" dirty="0"/>
          </a:p>
        </p:txBody>
      </p:sp>
      <p:sp>
        <p:nvSpPr>
          <p:cNvPr id="28" name="Shape 26"/>
          <p:cNvSpPr/>
          <p:nvPr/>
        </p:nvSpPr>
        <p:spPr>
          <a:xfrm>
            <a:off x="4828032" y="4005072"/>
            <a:ext cx="54864" cy="237744"/>
          </a:xfrm>
          <a:prstGeom prst="rect">
            <a:avLst/>
          </a:prstGeom>
          <a:solidFill>
            <a:srgbClr val="2563EB"/>
          </a:solidFill>
          <a:ln w="12700">
            <a:solidFill>
              <a:srgbClr val="2563EB"/>
            </a:solidFill>
            <a:prstDash val="solid"/>
          </a:ln>
        </p:spPr>
      </p:sp>
      <p:sp>
        <p:nvSpPr>
          <p:cNvPr id="29" name="Text 27"/>
          <p:cNvSpPr/>
          <p:nvPr/>
        </p:nvSpPr>
        <p:spPr>
          <a:xfrm>
            <a:off x="4974336" y="3986784"/>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Serves as the central navigation hub for admins</a:t>
            </a:r>
            <a:endParaRPr lang="en-US" sz="1100" dirty="0"/>
          </a:p>
        </p:txBody>
      </p:sp>
      <p:sp>
        <p:nvSpPr>
          <p:cNvPr id="30" name="Shape 28"/>
          <p:cNvSpPr/>
          <p:nvPr/>
        </p:nvSpPr>
        <p:spPr>
          <a:xfrm>
            <a:off x="4828032" y="4443984"/>
            <a:ext cx="54864" cy="237744"/>
          </a:xfrm>
          <a:prstGeom prst="rect">
            <a:avLst/>
          </a:prstGeom>
          <a:solidFill>
            <a:srgbClr val="2563EB"/>
          </a:solidFill>
          <a:ln w="12700">
            <a:solidFill>
              <a:srgbClr val="2563EB"/>
            </a:solidFill>
            <a:prstDash val="solid"/>
          </a:ln>
        </p:spPr>
      </p:sp>
      <p:sp>
        <p:nvSpPr>
          <p:cNvPr id="31" name="Text 29"/>
          <p:cNvSpPr/>
          <p:nvPr/>
        </p:nvSpPr>
        <p:spPr>
          <a:xfrm>
            <a:off x="4974336" y="4425696"/>
            <a:ext cx="3730752" cy="29260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Provides instant high-level system health overview</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Admin Module — Management Features</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Train control, user oversight, booking records &amp; reporting</a:t>
            </a:r>
            <a:endParaRPr lang="en-US" sz="1150" dirty="0"/>
          </a:p>
        </p:txBody>
      </p:sp>
      <p:sp>
        <p:nvSpPr>
          <p:cNvPr id="5" name="Shape 3"/>
          <p:cNvSpPr/>
          <p:nvPr/>
        </p:nvSpPr>
        <p:spPr>
          <a:xfrm>
            <a:off x="320040" y="1115568"/>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1115568"/>
            <a:ext cx="54864" cy="1737360"/>
          </a:xfrm>
          <a:prstGeom prst="rect">
            <a:avLst/>
          </a:prstGeom>
          <a:solidFill>
            <a:srgbClr val="0D9488"/>
          </a:solidFill>
          <a:ln w="12700">
            <a:solidFill>
              <a:srgbClr val="0D9488"/>
            </a:solidFill>
            <a:prstDash val="solid"/>
          </a:ln>
        </p:spPr>
      </p:sp>
      <p:sp>
        <p:nvSpPr>
          <p:cNvPr id="7" name="Text 5"/>
          <p:cNvSpPr/>
          <p:nvPr/>
        </p:nvSpPr>
        <p:spPr>
          <a:xfrm>
            <a:off x="484632" y="1225296"/>
            <a:ext cx="438912"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8" name="Text 6"/>
          <p:cNvSpPr/>
          <p:nvPr/>
        </p:nvSpPr>
        <p:spPr>
          <a:xfrm>
            <a:off x="978408" y="1243584"/>
            <a:ext cx="3383280" cy="347472"/>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Train Management</a:t>
            </a:r>
            <a:endParaRPr lang="en-US" sz="1350" dirty="0"/>
          </a:p>
        </p:txBody>
      </p:sp>
      <p:sp>
        <p:nvSpPr>
          <p:cNvPr id="9" name="Text 7"/>
          <p:cNvSpPr/>
          <p:nvPr/>
        </p:nvSpPr>
        <p:spPr>
          <a:xfrm>
            <a:off x="484632" y="171907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Add new trains with all route details</a:t>
            </a:r>
            <a:endParaRPr lang="en-US" sz="1100" dirty="0"/>
          </a:p>
        </p:txBody>
      </p:sp>
      <p:sp>
        <p:nvSpPr>
          <p:cNvPr id="10" name="Text 8"/>
          <p:cNvSpPr/>
          <p:nvPr/>
        </p:nvSpPr>
        <p:spPr>
          <a:xfrm>
            <a:off x="484632" y="199339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Edit existing train information anytime</a:t>
            </a:r>
            <a:endParaRPr lang="en-US" sz="1100" dirty="0"/>
          </a:p>
        </p:txBody>
      </p:sp>
      <p:sp>
        <p:nvSpPr>
          <p:cNvPr id="11" name="Text 9"/>
          <p:cNvSpPr/>
          <p:nvPr/>
        </p:nvSpPr>
        <p:spPr>
          <a:xfrm>
            <a:off x="484632" y="226771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Delete trains no longer in service</a:t>
            </a:r>
            <a:endParaRPr lang="en-US" sz="1100" dirty="0"/>
          </a:p>
        </p:txBody>
      </p:sp>
      <p:sp>
        <p:nvSpPr>
          <p:cNvPr id="12" name="Text 10"/>
          <p:cNvSpPr/>
          <p:nvPr/>
        </p:nvSpPr>
        <p:spPr>
          <a:xfrm>
            <a:off x="484632" y="254203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Manage and update seat capacity per train</a:t>
            </a:r>
            <a:endParaRPr lang="en-US" sz="1100" dirty="0"/>
          </a:p>
        </p:txBody>
      </p:sp>
      <p:sp>
        <p:nvSpPr>
          <p:cNvPr id="13" name="Shape 11"/>
          <p:cNvSpPr/>
          <p:nvPr/>
        </p:nvSpPr>
        <p:spPr>
          <a:xfrm>
            <a:off x="4754880" y="1115568"/>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4754880" y="1115568"/>
            <a:ext cx="54864" cy="1737360"/>
          </a:xfrm>
          <a:prstGeom prst="rect">
            <a:avLst/>
          </a:prstGeom>
          <a:solidFill>
            <a:srgbClr val="2563EB"/>
          </a:solidFill>
          <a:ln w="12700">
            <a:solidFill>
              <a:srgbClr val="2563EB"/>
            </a:solidFill>
            <a:prstDash val="solid"/>
          </a:ln>
        </p:spPr>
      </p:sp>
      <p:sp>
        <p:nvSpPr>
          <p:cNvPr id="15" name="Text 13"/>
          <p:cNvSpPr/>
          <p:nvPr/>
        </p:nvSpPr>
        <p:spPr>
          <a:xfrm>
            <a:off x="4919472" y="1225296"/>
            <a:ext cx="438912"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6" name="Text 14"/>
          <p:cNvSpPr/>
          <p:nvPr/>
        </p:nvSpPr>
        <p:spPr>
          <a:xfrm>
            <a:off x="5413248" y="1243584"/>
            <a:ext cx="3383280" cy="347472"/>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User Management</a:t>
            </a:r>
            <a:endParaRPr lang="en-US" sz="1350" dirty="0"/>
          </a:p>
        </p:txBody>
      </p:sp>
      <p:sp>
        <p:nvSpPr>
          <p:cNvPr id="17" name="Text 15"/>
          <p:cNvSpPr/>
          <p:nvPr/>
        </p:nvSpPr>
        <p:spPr>
          <a:xfrm>
            <a:off x="4919472" y="171907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View all registered user accounts</a:t>
            </a:r>
            <a:endParaRPr lang="en-US" sz="1100" dirty="0"/>
          </a:p>
        </p:txBody>
      </p:sp>
      <p:sp>
        <p:nvSpPr>
          <p:cNvPr id="18" name="Text 16"/>
          <p:cNvSpPr/>
          <p:nvPr/>
        </p:nvSpPr>
        <p:spPr>
          <a:xfrm>
            <a:off x="4919472" y="199339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Monitor and track new registrations</a:t>
            </a:r>
            <a:endParaRPr lang="en-US" sz="1100" dirty="0"/>
          </a:p>
        </p:txBody>
      </p:sp>
      <p:sp>
        <p:nvSpPr>
          <p:cNvPr id="19" name="Text 17"/>
          <p:cNvSpPr/>
          <p:nvPr/>
        </p:nvSpPr>
        <p:spPr>
          <a:xfrm>
            <a:off x="4919472" y="226771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Observe user activity across the platform</a:t>
            </a:r>
            <a:endParaRPr lang="en-US" sz="1100" dirty="0"/>
          </a:p>
        </p:txBody>
      </p:sp>
      <p:sp>
        <p:nvSpPr>
          <p:cNvPr id="20" name="Text 18"/>
          <p:cNvSpPr/>
          <p:nvPr/>
        </p:nvSpPr>
        <p:spPr>
          <a:xfrm>
            <a:off x="4919472" y="254203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Identify unusual patterns or suspicious activity</a:t>
            </a:r>
            <a:endParaRPr lang="en-US" sz="1100" dirty="0"/>
          </a:p>
        </p:txBody>
      </p:sp>
      <p:sp>
        <p:nvSpPr>
          <p:cNvPr id="21" name="Shape 19"/>
          <p:cNvSpPr/>
          <p:nvPr/>
        </p:nvSpPr>
        <p:spPr>
          <a:xfrm>
            <a:off x="320040" y="3035808"/>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2" name="Shape 20"/>
          <p:cNvSpPr/>
          <p:nvPr/>
        </p:nvSpPr>
        <p:spPr>
          <a:xfrm>
            <a:off x="320040" y="3035808"/>
            <a:ext cx="54864" cy="1737360"/>
          </a:xfrm>
          <a:prstGeom prst="rect">
            <a:avLst/>
          </a:prstGeom>
          <a:solidFill>
            <a:srgbClr val="1A2B5E"/>
          </a:solidFill>
          <a:ln w="12700">
            <a:solidFill>
              <a:srgbClr val="1A2B5E"/>
            </a:solidFill>
            <a:prstDash val="solid"/>
          </a:ln>
        </p:spPr>
      </p:sp>
      <p:sp>
        <p:nvSpPr>
          <p:cNvPr id="23" name="Text 21"/>
          <p:cNvSpPr/>
          <p:nvPr/>
        </p:nvSpPr>
        <p:spPr>
          <a:xfrm>
            <a:off x="484632" y="3145536"/>
            <a:ext cx="438912"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4" name="Text 22"/>
          <p:cNvSpPr/>
          <p:nvPr/>
        </p:nvSpPr>
        <p:spPr>
          <a:xfrm>
            <a:off x="978408" y="3163824"/>
            <a:ext cx="3383280" cy="347472"/>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Booking Management</a:t>
            </a:r>
            <a:endParaRPr lang="en-US" sz="1350" dirty="0"/>
          </a:p>
        </p:txBody>
      </p:sp>
      <p:sp>
        <p:nvSpPr>
          <p:cNvPr id="25" name="Text 23"/>
          <p:cNvSpPr/>
          <p:nvPr/>
        </p:nvSpPr>
        <p:spPr>
          <a:xfrm>
            <a:off x="484632" y="363931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View every booking made on the system</a:t>
            </a:r>
            <a:endParaRPr lang="en-US" sz="1100" dirty="0"/>
          </a:p>
        </p:txBody>
      </p:sp>
      <p:sp>
        <p:nvSpPr>
          <p:cNvPr id="26" name="Text 24"/>
          <p:cNvSpPr/>
          <p:nvPr/>
        </p:nvSpPr>
        <p:spPr>
          <a:xfrm>
            <a:off x="484632" y="391363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Track all PNR records across users</a:t>
            </a:r>
            <a:endParaRPr lang="en-US" sz="1100" dirty="0"/>
          </a:p>
        </p:txBody>
      </p:sp>
      <p:sp>
        <p:nvSpPr>
          <p:cNvPr id="27" name="Text 25"/>
          <p:cNvSpPr/>
          <p:nvPr/>
        </p:nvSpPr>
        <p:spPr>
          <a:xfrm>
            <a:off x="484632" y="418795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Review passenger information per booking</a:t>
            </a:r>
            <a:endParaRPr lang="en-US" sz="1100" dirty="0"/>
          </a:p>
        </p:txBody>
      </p:sp>
      <p:sp>
        <p:nvSpPr>
          <p:cNvPr id="28" name="Text 26"/>
          <p:cNvSpPr/>
          <p:nvPr/>
        </p:nvSpPr>
        <p:spPr>
          <a:xfrm>
            <a:off x="484632" y="446227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Analyse overall system usage and trends</a:t>
            </a:r>
            <a:endParaRPr lang="en-US" sz="1100" dirty="0"/>
          </a:p>
        </p:txBody>
      </p:sp>
      <p:sp>
        <p:nvSpPr>
          <p:cNvPr id="29" name="Shape 27"/>
          <p:cNvSpPr/>
          <p:nvPr/>
        </p:nvSpPr>
        <p:spPr>
          <a:xfrm>
            <a:off x="4754880" y="3035808"/>
            <a:ext cx="42062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0" name="Shape 28"/>
          <p:cNvSpPr/>
          <p:nvPr/>
        </p:nvSpPr>
        <p:spPr>
          <a:xfrm>
            <a:off x="4754880" y="3035808"/>
            <a:ext cx="54864" cy="1737360"/>
          </a:xfrm>
          <a:prstGeom prst="rect">
            <a:avLst/>
          </a:prstGeom>
          <a:solidFill>
            <a:srgbClr val="F59E0B"/>
          </a:solidFill>
          <a:ln w="12700">
            <a:solidFill>
              <a:srgbClr val="F59E0B"/>
            </a:solidFill>
            <a:prstDash val="solid"/>
          </a:ln>
        </p:spPr>
      </p:sp>
      <p:sp>
        <p:nvSpPr>
          <p:cNvPr id="31" name="Text 29"/>
          <p:cNvSpPr/>
          <p:nvPr/>
        </p:nvSpPr>
        <p:spPr>
          <a:xfrm>
            <a:off x="4919472" y="3145536"/>
            <a:ext cx="438912" cy="402336"/>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32" name="Text 30"/>
          <p:cNvSpPr/>
          <p:nvPr/>
        </p:nvSpPr>
        <p:spPr>
          <a:xfrm>
            <a:off x="5413248" y="3163824"/>
            <a:ext cx="3383280" cy="347472"/>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Reports &amp; Monitoring</a:t>
            </a:r>
            <a:endParaRPr lang="en-US" sz="1350" dirty="0"/>
          </a:p>
        </p:txBody>
      </p:sp>
      <p:sp>
        <p:nvSpPr>
          <p:cNvPr id="33" name="Text 31"/>
          <p:cNvSpPr/>
          <p:nvPr/>
        </p:nvSpPr>
        <p:spPr>
          <a:xfrm>
            <a:off x="4919472" y="363931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Booking volume and statistics reporting</a:t>
            </a:r>
            <a:endParaRPr lang="en-US" sz="1100" dirty="0"/>
          </a:p>
        </p:txBody>
      </p:sp>
      <p:sp>
        <p:nvSpPr>
          <p:cNvPr id="34" name="Text 32"/>
          <p:cNvSpPr/>
          <p:nvPr/>
        </p:nvSpPr>
        <p:spPr>
          <a:xfrm>
            <a:off x="4919472" y="391363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User count trends over time</a:t>
            </a:r>
            <a:endParaRPr lang="en-US" sz="1100" dirty="0"/>
          </a:p>
        </p:txBody>
      </p:sp>
      <p:sp>
        <p:nvSpPr>
          <p:cNvPr id="35" name="Text 33"/>
          <p:cNvSpPr/>
          <p:nvPr/>
        </p:nvSpPr>
        <p:spPr>
          <a:xfrm>
            <a:off x="4919472" y="418795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Train utilisation and capacity reports</a:t>
            </a:r>
            <a:endParaRPr lang="en-US" sz="1100" dirty="0"/>
          </a:p>
        </p:txBody>
      </p:sp>
      <p:sp>
        <p:nvSpPr>
          <p:cNvPr id="36" name="Text 34"/>
          <p:cNvSpPr/>
          <p:nvPr/>
        </p:nvSpPr>
        <p:spPr>
          <a:xfrm>
            <a:off x="4919472" y="4462272"/>
            <a:ext cx="3913632"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Data to support operational decisions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Security Considerations</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Multi-layered protection built into every part of RailConnect</a:t>
            </a:r>
            <a:endParaRPr lang="en-US" sz="1150" dirty="0"/>
          </a:p>
        </p:txBody>
      </p:sp>
      <p:sp>
        <p:nvSpPr>
          <p:cNvPr id="5" name="Shape 3"/>
          <p:cNvSpPr/>
          <p:nvPr/>
        </p:nvSpPr>
        <p:spPr>
          <a:xfrm>
            <a:off x="274320" y="1115568"/>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74320" y="1115568"/>
            <a:ext cx="2834640" cy="64008"/>
          </a:xfrm>
          <a:prstGeom prst="rect">
            <a:avLst/>
          </a:prstGeom>
          <a:solidFill>
            <a:srgbClr val="EF4444"/>
          </a:solidFill>
          <a:ln w="12700">
            <a:solidFill>
              <a:srgbClr val="EF4444"/>
            </a:solidFill>
            <a:prstDash val="solid"/>
          </a:ln>
        </p:spPr>
      </p:sp>
      <p:sp>
        <p:nvSpPr>
          <p:cNvPr id="7" name="Text 5"/>
          <p:cNvSpPr/>
          <p:nvPr/>
        </p:nvSpPr>
        <p:spPr>
          <a:xfrm>
            <a:off x="384048" y="1225296"/>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8" name="Text 6"/>
          <p:cNvSpPr/>
          <p:nvPr/>
        </p:nvSpPr>
        <p:spPr>
          <a:xfrm>
            <a:off x="868680" y="1243584"/>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OTP Verification</a:t>
            </a:r>
            <a:endParaRPr lang="en-US" sz="1250" dirty="0"/>
          </a:p>
        </p:txBody>
      </p:sp>
      <p:sp>
        <p:nvSpPr>
          <p:cNvPr id="9" name="Text 7"/>
          <p:cNvSpPr/>
          <p:nvPr/>
        </p:nvSpPr>
        <p:spPr>
          <a:xfrm>
            <a:off x="384048" y="1682496"/>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Two-step login sends a time-limited one-time password to the user's registered email. Only someone with actual email access can complete the authentication process.</a:t>
            </a:r>
            <a:endParaRPr lang="en-US" sz="1050" dirty="0"/>
          </a:p>
        </p:txBody>
      </p:sp>
      <p:sp>
        <p:nvSpPr>
          <p:cNvPr id="10" name="Shape 8"/>
          <p:cNvSpPr/>
          <p:nvPr/>
        </p:nvSpPr>
        <p:spPr>
          <a:xfrm>
            <a:off x="3246120" y="1115568"/>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3246120" y="1115568"/>
            <a:ext cx="2834640" cy="64008"/>
          </a:xfrm>
          <a:prstGeom prst="rect">
            <a:avLst/>
          </a:prstGeom>
          <a:solidFill>
            <a:srgbClr val="2563EB"/>
          </a:solidFill>
          <a:ln w="12700">
            <a:solidFill>
              <a:srgbClr val="2563EB"/>
            </a:solidFill>
            <a:prstDash val="solid"/>
          </a:ln>
        </p:spPr>
      </p:sp>
      <p:sp>
        <p:nvSpPr>
          <p:cNvPr id="12" name="Text 10"/>
          <p:cNvSpPr/>
          <p:nvPr/>
        </p:nvSpPr>
        <p:spPr>
          <a:xfrm>
            <a:off x="3355848" y="1225296"/>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13" name="Text 11"/>
          <p:cNvSpPr/>
          <p:nvPr/>
        </p:nvSpPr>
        <p:spPr>
          <a:xfrm>
            <a:off x="3840480" y="1243584"/>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Session Management</a:t>
            </a:r>
            <a:endParaRPr lang="en-US" sz="1250" dirty="0"/>
          </a:p>
        </p:txBody>
      </p:sp>
      <p:sp>
        <p:nvSpPr>
          <p:cNvPr id="14" name="Text 12"/>
          <p:cNvSpPr/>
          <p:nvPr/>
        </p:nvSpPr>
        <p:spPr>
          <a:xfrm>
            <a:off x="3355848" y="1682496"/>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Session variables maintain state throughout the user's visit. Logout clears the session entirely, preventing any access to protected routes after sign-out.</a:t>
            </a:r>
            <a:endParaRPr lang="en-US" sz="1050" dirty="0"/>
          </a:p>
        </p:txBody>
      </p:sp>
      <p:sp>
        <p:nvSpPr>
          <p:cNvPr id="15" name="Shape 13"/>
          <p:cNvSpPr/>
          <p:nvPr/>
        </p:nvSpPr>
        <p:spPr>
          <a:xfrm>
            <a:off x="6217920" y="1115568"/>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6217920" y="1115568"/>
            <a:ext cx="2834640" cy="64008"/>
          </a:xfrm>
          <a:prstGeom prst="rect">
            <a:avLst/>
          </a:prstGeom>
          <a:solidFill>
            <a:srgbClr val="0D9488"/>
          </a:solidFill>
          <a:ln w="12700">
            <a:solidFill>
              <a:srgbClr val="0D9488"/>
            </a:solidFill>
            <a:prstDash val="solid"/>
          </a:ln>
        </p:spPr>
      </p:sp>
      <p:sp>
        <p:nvSpPr>
          <p:cNvPr id="17" name="Text 15"/>
          <p:cNvSpPr/>
          <p:nvPr/>
        </p:nvSpPr>
        <p:spPr>
          <a:xfrm>
            <a:off x="6327648" y="1225296"/>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18" name="Text 16"/>
          <p:cNvSpPr/>
          <p:nvPr/>
        </p:nvSpPr>
        <p:spPr>
          <a:xfrm>
            <a:off x="6812280" y="1243584"/>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Role-Based Access</a:t>
            </a:r>
            <a:endParaRPr lang="en-US" sz="1250" dirty="0"/>
          </a:p>
        </p:txBody>
      </p:sp>
      <p:sp>
        <p:nvSpPr>
          <p:cNvPr id="19" name="Text 17"/>
          <p:cNvSpPr/>
          <p:nvPr/>
        </p:nvSpPr>
        <p:spPr>
          <a:xfrm>
            <a:off x="6327648" y="1682496"/>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Users and admins have completely separate credentials, session keys, and accessible routes. Each role can only reach its own designated areas of the application.</a:t>
            </a:r>
            <a:endParaRPr lang="en-US" sz="1050" dirty="0"/>
          </a:p>
        </p:txBody>
      </p:sp>
      <p:sp>
        <p:nvSpPr>
          <p:cNvPr id="20" name="Shape 18"/>
          <p:cNvSpPr/>
          <p:nvPr/>
        </p:nvSpPr>
        <p:spPr>
          <a:xfrm>
            <a:off x="274320" y="3017520"/>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274320" y="3017520"/>
            <a:ext cx="2834640" cy="64008"/>
          </a:xfrm>
          <a:prstGeom prst="rect">
            <a:avLst/>
          </a:prstGeom>
          <a:solidFill>
            <a:srgbClr val="F59E0B"/>
          </a:solidFill>
          <a:ln w="12700">
            <a:solidFill>
              <a:srgbClr val="F59E0B"/>
            </a:solidFill>
            <a:prstDash val="solid"/>
          </a:ln>
        </p:spPr>
      </p:sp>
      <p:sp>
        <p:nvSpPr>
          <p:cNvPr id="22" name="Text 20"/>
          <p:cNvSpPr/>
          <p:nvPr/>
        </p:nvSpPr>
        <p:spPr>
          <a:xfrm>
            <a:off x="384048" y="3127248"/>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23" name="Text 21"/>
          <p:cNvSpPr/>
          <p:nvPr/>
        </p:nvSpPr>
        <p:spPr>
          <a:xfrm>
            <a:off x="868680" y="3145536"/>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CSRF Protection</a:t>
            </a:r>
            <a:endParaRPr lang="en-US" sz="1250" dirty="0"/>
          </a:p>
        </p:txBody>
      </p:sp>
      <p:sp>
        <p:nvSpPr>
          <p:cNvPr id="24" name="Text 22"/>
          <p:cNvSpPr/>
          <p:nvPr/>
        </p:nvSpPr>
        <p:spPr>
          <a:xfrm>
            <a:off x="384048" y="3584448"/>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Django's built-in CSRF middleware is active on every form submission, automatically guarding against cross-site request forgery attacks system-wide.</a:t>
            </a:r>
            <a:endParaRPr lang="en-US" sz="1050" dirty="0"/>
          </a:p>
        </p:txBody>
      </p:sp>
      <p:sp>
        <p:nvSpPr>
          <p:cNvPr id="25" name="Shape 23"/>
          <p:cNvSpPr/>
          <p:nvPr/>
        </p:nvSpPr>
        <p:spPr>
          <a:xfrm>
            <a:off x="3246120" y="3017520"/>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3246120" y="3017520"/>
            <a:ext cx="2834640" cy="64008"/>
          </a:xfrm>
          <a:prstGeom prst="rect">
            <a:avLst/>
          </a:prstGeom>
          <a:solidFill>
            <a:srgbClr val="8B5CF6"/>
          </a:solidFill>
          <a:ln w="12700">
            <a:solidFill>
              <a:srgbClr val="8B5CF6"/>
            </a:solidFill>
            <a:prstDash val="solid"/>
          </a:ln>
        </p:spPr>
      </p:sp>
      <p:sp>
        <p:nvSpPr>
          <p:cNvPr id="27" name="Text 25"/>
          <p:cNvSpPr/>
          <p:nvPr/>
        </p:nvSpPr>
        <p:spPr>
          <a:xfrm>
            <a:off x="3355848" y="3127248"/>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28" name="Text 26"/>
          <p:cNvSpPr/>
          <p:nvPr/>
        </p:nvSpPr>
        <p:spPr>
          <a:xfrm>
            <a:off x="3840480" y="3145536"/>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Input Validation</a:t>
            </a:r>
            <a:endParaRPr lang="en-US" sz="1250" dirty="0"/>
          </a:p>
        </p:txBody>
      </p:sp>
      <p:sp>
        <p:nvSpPr>
          <p:cNvPr id="29" name="Text 27"/>
          <p:cNvSpPr/>
          <p:nvPr/>
        </p:nvSpPr>
        <p:spPr>
          <a:xfrm>
            <a:off x="3355848" y="3584448"/>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All inputs are validated server-side before any processing. This prevents malformed, unexpected, or malicious data from entering any part of the system.</a:t>
            </a:r>
            <a:endParaRPr lang="en-US" sz="1050" dirty="0"/>
          </a:p>
        </p:txBody>
      </p:sp>
      <p:sp>
        <p:nvSpPr>
          <p:cNvPr id="30" name="Shape 28"/>
          <p:cNvSpPr/>
          <p:nvPr/>
        </p:nvSpPr>
        <p:spPr>
          <a:xfrm>
            <a:off x="6217920" y="3017520"/>
            <a:ext cx="2834640" cy="1737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1" name="Shape 29"/>
          <p:cNvSpPr/>
          <p:nvPr/>
        </p:nvSpPr>
        <p:spPr>
          <a:xfrm>
            <a:off x="6217920" y="3017520"/>
            <a:ext cx="2834640" cy="64008"/>
          </a:xfrm>
          <a:prstGeom prst="rect">
            <a:avLst/>
          </a:prstGeom>
          <a:solidFill>
            <a:srgbClr val="1A2B5E"/>
          </a:solidFill>
          <a:ln w="12700">
            <a:solidFill>
              <a:srgbClr val="1A2B5E"/>
            </a:solidFill>
            <a:prstDash val="solid"/>
          </a:ln>
        </p:spPr>
      </p:sp>
      <p:sp>
        <p:nvSpPr>
          <p:cNvPr id="32" name="Text 30"/>
          <p:cNvSpPr/>
          <p:nvPr/>
        </p:nvSpPr>
        <p:spPr>
          <a:xfrm>
            <a:off x="6327648" y="3127248"/>
            <a:ext cx="438912" cy="402336"/>
          </a:xfrm>
          <a:prstGeom prst="rect">
            <a:avLst/>
          </a:prstGeom>
          <a:noFill/>
          <a:ln/>
        </p:spPr>
        <p:txBody>
          <a:bodyPr wrap="square" lIns="0" tIns="0" rIns="0" bIns="0" rtlCol="0" anchor="ctr"/>
          <a:lstStyle/>
          <a:p>
            <a:pPr marL="0" indent="0">
              <a:buNone/>
            </a:pPr>
            <a:r>
              <a:rPr lang="en-US" sz="1900" dirty="0">
                <a:solidFill>
                  <a:srgbClr val="000000"/>
                </a:solidFill>
              </a:rPr>
              <a:t>🔑</a:t>
            </a:r>
            <a:endParaRPr lang="en-US" sz="1900" dirty="0"/>
          </a:p>
        </p:txBody>
      </p:sp>
      <p:sp>
        <p:nvSpPr>
          <p:cNvPr id="33" name="Text 31"/>
          <p:cNvSpPr/>
          <p:nvPr/>
        </p:nvSpPr>
        <p:spPr>
          <a:xfrm>
            <a:off x="6812280" y="3145536"/>
            <a:ext cx="2148840" cy="36576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Admin Auth Layer</a:t>
            </a:r>
            <a:endParaRPr lang="en-US" sz="1250" dirty="0"/>
          </a:p>
        </p:txBody>
      </p:sp>
      <p:sp>
        <p:nvSpPr>
          <p:cNvPr id="34" name="Text 32"/>
          <p:cNvSpPr/>
          <p:nvPr/>
        </p:nvSpPr>
        <p:spPr>
          <a:xfrm>
            <a:off x="6327648" y="3584448"/>
            <a:ext cx="2615184" cy="1078992"/>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Admin credentials are stored independently from user credentials. Admin pages remain completely inaccessible without a valid admin session — no exceptions.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Technology Stack</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The tools and frameworks powering RailConnect</a:t>
            </a:r>
            <a:endParaRPr lang="en-US" sz="1150" dirty="0"/>
          </a:p>
        </p:txBody>
      </p:sp>
      <p:sp>
        <p:nvSpPr>
          <p:cNvPr id="5" name="Shape 3"/>
          <p:cNvSpPr/>
          <p:nvPr/>
        </p:nvSpPr>
        <p:spPr>
          <a:xfrm>
            <a:off x="256032"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256032" y="1115568"/>
            <a:ext cx="1627632" cy="475488"/>
          </a:xfrm>
          <a:prstGeom prst="rect">
            <a:avLst/>
          </a:prstGeom>
          <a:solidFill>
            <a:srgbClr val="0D9488"/>
          </a:solidFill>
          <a:ln w="12700">
            <a:solidFill>
              <a:srgbClr val="0D9488"/>
            </a:solidFill>
            <a:prstDash val="solid"/>
          </a:ln>
        </p:spPr>
      </p:sp>
      <p:sp>
        <p:nvSpPr>
          <p:cNvPr id="7" name="Text 5"/>
          <p:cNvSpPr/>
          <p:nvPr/>
        </p:nvSpPr>
        <p:spPr>
          <a:xfrm>
            <a:off x="256032"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8" name="Shape 6"/>
          <p:cNvSpPr/>
          <p:nvPr/>
        </p:nvSpPr>
        <p:spPr>
          <a:xfrm>
            <a:off x="347472" y="1737360"/>
            <a:ext cx="1444752" cy="914400"/>
          </a:xfrm>
          <a:prstGeom prst="rect">
            <a:avLst/>
          </a:prstGeom>
          <a:solidFill>
            <a:srgbClr val="F1F5FB"/>
          </a:solidFill>
          <a:ln w="12700">
            <a:solidFill>
              <a:srgbClr val="E2E8F0"/>
            </a:solidFill>
            <a:prstDash val="solid"/>
          </a:ln>
        </p:spPr>
      </p:sp>
      <p:sp>
        <p:nvSpPr>
          <p:cNvPr id="9" name="Shape 7"/>
          <p:cNvSpPr/>
          <p:nvPr/>
        </p:nvSpPr>
        <p:spPr>
          <a:xfrm>
            <a:off x="347472" y="1737360"/>
            <a:ext cx="1444752" cy="54864"/>
          </a:xfrm>
          <a:prstGeom prst="rect">
            <a:avLst/>
          </a:prstGeom>
          <a:solidFill>
            <a:srgbClr val="0D9488"/>
          </a:solidFill>
          <a:ln w="12700">
            <a:solidFill>
              <a:srgbClr val="0D9488"/>
            </a:solidFill>
            <a:prstDash val="solid"/>
          </a:ln>
        </p:spPr>
      </p:sp>
      <p:sp>
        <p:nvSpPr>
          <p:cNvPr id="10" name="Text 8"/>
          <p:cNvSpPr/>
          <p:nvPr/>
        </p:nvSpPr>
        <p:spPr>
          <a:xfrm>
            <a:off x="402336"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HTML5</a:t>
            </a:r>
            <a:endParaRPr lang="en-US" sz="1150" dirty="0"/>
          </a:p>
        </p:txBody>
      </p:sp>
      <p:sp>
        <p:nvSpPr>
          <p:cNvPr id="11" name="Text 9"/>
          <p:cNvSpPr/>
          <p:nvPr/>
        </p:nvSpPr>
        <p:spPr>
          <a:xfrm>
            <a:off x="402336"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Page structure &amp; markup</a:t>
            </a:r>
            <a:endParaRPr lang="en-US" sz="950" dirty="0"/>
          </a:p>
        </p:txBody>
      </p:sp>
      <p:sp>
        <p:nvSpPr>
          <p:cNvPr id="12" name="Shape 10"/>
          <p:cNvSpPr/>
          <p:nvPr/>
        </p:nvSpPr>
        <p:spPr>
          <a:xfrm>
            <a:off x="347472" y="2788920"/>
            <a:ext cx="1444752" cy="914400"/>
          </a:xfrm>
          <a:prstGeom prst="rect">
            <a:avLst/>
          </a:prstGeom>
          <a:solidFill>
            <a:srgbClr val="F1F5FB"/>
          </a:solidFill>
          <a:ln w="12700">
            <a:solidFill>
              <a:srgbClr val="E2E8F0"/>
            </a:solidFill>
            <a:prstDash val="solid"/>
          </a:ln>
        </p:spPr>
      </p:sp>
      <p:sp>
        <p:nvSpPr>
          <p:cNvPr id="13" name="Shape 11"/>
          <p:cNvSpPr/>
          <p:nvPr/>
        </p:nvSpPr>
        <p:spPr>
          <a:xfrm>
            <a:off x="347472" y="2788920"/>
            <a:ext cx="1444752" cy="54864"/>
          </a:xfrm>
          <a:prstGeom prst="rect">
            <a:avLst/>
          </a:prstGeom>
          <a:solidFill>
            <a:srgbClr val="0D9488"/>
          </a:solidFill>
          <a:ln w="12700">
            <a:solidFill>
              <a:srgbClr val="0D9488"/>
            </a:solidFill>
            <a:prstDash val="solid"/>
          </a:ln>
        </p:spPr>
      </p:sp>
      <p:sp>
        <p:nvSpPr>
          <p:cNvPr id="14" name="Text 12"/>
          <p:cNvSpPr/>
          <p:nvPr/>
        </p:nvSpPr>
        <p:spPr>
          <a:xfrm>
            <a:off x="402336"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CSS3</a:t>
            </a:r>
            <a:endParaRPr lang="en-US" sz="1150" dirty="0"/>
          </a:p>
        </p:txBody>
      </p:sp>
      <p:sp>
        <p:nvSpPr>
          <p:cNvPr id="15" name="Text 13"/>
          <p:cNvSpPr/>
          <p:nvPr/>
        </p:nvSpPr>
        <p:spPr>
          <a:xfrm>
            <a:off x="402336"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Styling &amp; layout</a:t>
            </a:r>
            <a:endParaRPr lang="en-US" sz="950" dirty="0"/>
          </a:p>
        </p:txBody>
      </p:sp>
      <p:sp>
        <p:nvSpPr>
          <p:cNvPr id="16" name="Shape 14"/>
          <p:cNvSpPr/>
          <p:nvPr/>
        </p:nvSpPr>
        <p:spPr>
          <a:xfrm>
            <a:off x="347472" y="3840480"/>
            <a:ext cx="1444752" cy="914400"/>
          </a:xfrm>
          <a:prstGeom prst="rect">
            <a:avLst/>
          </a:prstGeom>
          <a:solidFill>
            <a:srgbClr val="F1F5FB"/>
          </a:solidFill>
          <a:ln w="12700">
            <a:solidFill>
              <a:srgbClr val="E2E8F0"/>
            </a:solidFill>
            <a:prstDash val="solid"/>
          </a:ln>
        </p:spPr>
      </p:sp>
      <p:sp>
        <p:nvSpPr>
          <p:cNvPr id="17" name="Shape 15"/>
          <p:cNvSpPr/>
          <p:nvPr/>
        </p:nvSpPr>
        <p:spPr>
          <a:xfrm>
            <a:off x="347472" y="3840480"/>
            <a:ext cx="1444752" cy="54864"/>
          </a:xfrm>
          <a:prstGeom prst="rect">
            <a:avLst/>
          </a:prstGeom>
          <a:solidFill>
            <a:srgbClr val="0D9488"/>
          </a:solidFill>
          <a:ln w="12700">
            <a:solidFill>
              <a:srgbClr val="0D9488"/>
            </a:solidFill>
            <a:prstDash val="solid"/>
          </a:ln>
        </p:spPr>
      </p:sp>
      <p:sp>
        <p:nvSpPr>
          <p:cNvPr id="18" name="Text 16"/>
          <p:cNvSpPr/>
          <p:nvPr/>
        </p:nvSpPr>
        <p:spPr>
          <a:xfrm>
            <a:off x="402336"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JavaScript</a:t>
            </a:r>
            <a:endParaRPr lang="en-US" sz="1150" dirty="0"/>
          </a:p>
        </p:txBody>
      </p:sp>
      <p:sp>
        <p:nvSpPr>
          <p:cNvPr id="19" name="Text 17"/>
          <p:cNvSpPr/>
          <p:nvPr/>
        </p:nvSpPr>
        <p:spPr>
          <a:xfrm>
            <a:off x="402336"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Dynamic UI behaviour</a:t>
            </a:r>
            <a:endParaRPr lang="en-US" sz="950" dirty="0"/>
          </a:p>
        </p:txBody>
      </p:sp>
      <p:sp>
        <p:nvSpPr>
          <p:cNvPr id="20" name="Shape 18"/>
          <p:cNvSpPr/>
          <p:nvPr/>
        </p:nvSpPr>
        <p:spPr>
          <a:xfrm>
            <a:off x="2011680"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2011680" y="1115568"/>
            <a:ext cx="1627632" cy="475488"/>
          </a:xfrm>
          <a:prstGeom prst="rect">
            <a:avLst/>
          </a:prstGeom>
          <a:solidFill>
            <a:srgbClr val="2563EB"/>
          </a:solidFill>
          <a:ln w="12700">
            <a:solidFill>
              <a:srgbClr val="2563EB"/>
            </a:solidFill>
            <a:prstDash val="solid"/>
          </a:ln>
        </p:spPr>
      </p:sp>
      <p:sp>
        <p:nvSpPr>
          <p:cNvPr id="22" name="Text 20"/>
          <p:cNvSpPr/>
          <p:nvPr/>
        </p:nvSpPr>
        <p:spPr>
          <a:xfrm>
            <a:off x="2011680"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p:txBody>
      </p:sp>
      <p:sp>
        <p:nvSpPr>
          <p:cNvPr id="23" name="Shape 21"/>
          <p:cNvSpPr/>
          <p:nvPr/>
        </p:nvSpPr>
        <p:spPr>
          <a:xfrm>
            <a:off x="2103120" y="1737360"/>
            <a:ext cx="1444752" cy="914400"/>
          </a:xfrm>
          <a:prstGeom prst="rect">
            <a:avLst/>
          </a:prstGeom>
          <a:solidFill>
            <a:srgbClr val="F1F5FB"/>
          </a:solidFill>
          <a:ln w="12700">
            <a:solidFill>
              <a:srgbClr val="E2E8F0"/>
            </a:solidFill>
            <a:prstDash val="solid"/>
          </a:ln>
        </p:spPr>
      </p:sp>
      <p:sp>
        <p:nvSpPr>
          <p:cNvPr id="24" name="Shape 22"/>
          <p:cNvSpPr/>
          <p:nvPr/>
        </p:nvSpPr>
        <p:spPr>
          <a:xfrm>
            <a:off x="2103120" y="1737360"/>
            <a:ext cx="1444752" cy="54864"/>
          </a:xfrm>
          <a:prstGeom prst="rect">
            <a:avLst/>
          </a:prstGeom>
          <a:solidFill>
            <a:srgbClr val="2563EB"/>
          </a:solidFill>
          <a:ln w="12700">
            <a:solidFill>
              <a:srgbClr val="2563EB"/>
            </a:solidFill>
            <a:prstDash val="solid"/>
          </a:ln>
        </p:spPr>
      </p:sp>
      <p:sp>
        <p:nvSpPr>
          <p:cNvPr id="25" name="Text 23"/>
          <p:cNvSpPr/>
          <p:nvPr/>
        </p:nvSpPr>
        <p:spPr>
          <a:xfrm>
            <a:off x="2157984"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Python 3</a:t>
            </a:r>
            <a:endParaRPr lang="en-US" sz="1150" dirty="0"/>
          </a:p>
        </p:txBody>
      </p:sp>
      <p:sp>
        <p:nvSpPr>
          <p:cNvPr id="26" name="Text 24"/>
          <p:cNvSpPr/>
          <p:nvPr/>
        </p:nvSpPr>
        <p:spPr>
          <a:xfrm>
            <a:off x="2157984"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Core language</a:t>
            </a:r>
            <a:endParaRPr lang="en-US" sz="950" dirty="0"/>
          </a:p>
        </p:txBody>
      </p:sp>
      <p:sp>
        <p:nvSpPr>
          <p:cNvPr id="27" name="Shape 25"/>
          <p:cNvSpPr/>
          <p:nvPr/>
        </p:nvSpPr>
        <p:spPr>
          <a:xfrm>
            <a:off x="2103120" y="2788920"/>
            <a:ext cx="1444752" cy="914400"/>
          </a:xfrm>
          <a:prstGeom prst="rect">
            <a:avLst/>
          </a:prstGeom>
          <a:solidFill>
            <a:srgbClr val="F1F5FB"/>
          </a:solidFill>
          <a:ln w="12700">
            <a:solidFill>
              <a:srgbClr val="E2E8F0"/>
            </a:solidFill>
            <a:prstDash val="solid"/>
          </a:ln>
        </p:spPr>
      </p:sp>
      <p:sp>
        <p:nvSpPr>
          <p:cNvPr id="28" name="Shape 26"/>
          <p:cNvSpPr/>
          <p:nvPr/>
        </p:nvSpPr>
        <p:spPr>
          <a:xfrm>
            <a:off x="2103120" y="2788920"/>
            <a:ext cx="1444752" cy="54864"/>
          </a:xfrm>
          <a:prstGeom prst="rect">
            <a:avLst/>
          </a:prstGeom>
          <a:solidFill>
            <a:srgbClr val="2563EB"/>
          </a:solidFill>
          <a:ln w="12700">
            <a:solidFill>
              <a:srgbClr val="2563EB"/>
            </a:solidFill>
            <a:prstDash val="solid"/>
          </a:ln>
        </p:spPr>
      </p:sp>
      <p:sp>
        <p:nvSpPr>
          <p:cNvPr id="29" name="Text 27"/>
          <p:cNvSpPr/>
          <p:nvPr/>
        </p:nvSpPr>
        <p:spPr>
          <a:xfrm>
            <a:off x="2157984"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Django</a:t>
            </a:r>
            <a:endParaRPr lang="en-US" sz="1150" dirty="0"/>
          </a:p>
        </p:txBody>
      </p:sp>
      <p:sp>
        <p:nvSpPr>
          <p:cNvPr id="30" name="Text 28"/>
          <p:cNvSpPr/>
          <p:nvPr/>
        </p:nvSpPr>
        <p:spPr>
          <a:xfrm>
            <a:off x="2157984"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Web framework &amp; ORM</a:t>
            </a:r>
            <a:endParaRPr lang="en-US" sz="950" dirty="0"/>
          </a:p>
        </p:txBody>
      </p:sp>
      <p:sp>
        <p:nvSpPr>
          <p:cNvPr id="31" name="Shape 29"/>
          <p:cNvSpPr/>
          <p:nvPr/>
        </p:nvSpPr>
        <p:spPr>
          <a:xfrm>
            <a:off x="2103120" y="3840480"/>
            <a:ext cx="1444752" cy="914400"/>
          </a:xfrm>
          <a:prstGeom prst="rect">
            <a:avLst/>
          </a:prstGeom>
          <a:solidFill>
            <a:srgbClr val="F1F5FB"/>
          </a:solidFill>
          <a:ln w="12700">
            <a:solidFill>
              <a:srgbClr val="E2E8F0"/>
            </a:solidFill>
            <a:prstDash val="solid"/>
          </a:ln>
        </p:spPr>
      </p:sp>
      <p:sp>
        <p:nvSpPr>
          <p:cNvPr id="32" name="Shape 30"/>
          <p:cNvSpPr/>
          <p:nvPr/>
        </p:nvSpPr>
        <p:spPr>
          <a:xfrm>
            <a:off x="2103120" y="3840480"/>
            <a:ext cx="1444752" cy="54864"/>
          </a:xfrm>
          <a:prstGeom prst="rect">
            <a:avLst/>
          </a:prstGeom>
          <a:solidFill>
            <a:srgbClr val="2563EB"/>
          </a:solidFill>
          <a:ln w="12700">
            <a:solidFill>
              <a:srgbClr val="2563EB"/>
            </a:solidFill>
            <a:prstDash val="solid"/>
          </a:ln>
        </p:spPr>
      </p:sp>
      <p:sp>
        <p:nvSpPr>
          <p:cNvPr id="33" name="Text 31"/>
          <p:cNvSpPr/>
          <p:nvPr/>
        </p:nvSpPr>
        <p:spPr>
          <a:xfrm>
            <a:off x="2157984"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Django Auth</a:t>
            </a:r>
            <a:endParaRPr lang="en-US" sz="1150" dirty="0"/>
          </a:p>
        </p:txBody>
      </p:sp>
      <p:sp>
        <p:nvSpPr>
          <p:cNvPr id="34" name="Text 32"/>
          <p:cNvSpPr/>
          <p:nvPr/>
        </p:nvSpPr>
        <p:spPr>
          <a:xfrm>
            <a:off x="2157984"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Authentication system</a:t>
            </a:r>
            <a:endParaRPr lang="en-US" sz="950" dirty="0"/>
          </a:p>
        </p:txBody>
      </p:sp>
      <p:sp>
        <p:nvSpPr>
          <p:cNvPr id="35" name="Shape 33"/>
          <p:cNvSpPr/>
          <p:nvPr/>
        </p:nvSpPr>
        <p:spPr>
          <a:xfrm>
            <a:off x="3767328"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6" name="Shape 34"/>
          <p:cNvSpPr/>
          <p:nvPr/>
        </p:nvSpPr>
        <p:spPr>
          <a:xfrm>
            <a:off x="3767328" y="1115568"/>
            <a:ext cx="1627632" cy="475488"/>
          </a:xfrm>
          <a:prstGeom prst="rect">
            <a:avLst/>
          </a:prstGeom>
          <a:solidFill>
            <a:srgbClr val="1A2B5E"/>
          </a:solidFill>
          <a:ln w="12700">
            <a:solidFill>
              <a:srgbClr val="1A2B5E"/>
            </a:solidFill>
            <a:prstDash val="solid"/>
          </a:ln>
        </p:spPr>
      </p:sp>
      <p:sp>
        <p:nvSpPr>
          <p:cNvPr id="37" name="Text 35"/>
          <p:cNvSpPr/>
          <p:nvPr/>
        </p:nvSpPr>
        <p:spPr>
          <a:xfrm>
            <a:off x="3767328"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p:txBody>
      </p:sp>
      <p:sp>
        <p:nvSpPr>
          <p:cNvPr id="38" name="Shape 36"/>
          <p:cNvSpPr/>
          <p:nvPr/>
        </p:nvSpPr>
        <p:spPr>
          <a:xfrm>
            <a:off x="3858768" y="1737360"/>
            <a:ext cx="1444752" cy="914400"/>
          </a:xfrm>
          <a:prstGeom prst="rect">
            <a:avLst/>
          </a:prstGeom>
          <a:solidFill>
            <a:srgbClr val="F1F5FB"/>
          </a:solidFill>
          <a:ln w="12700">
            <a:solidFill>
              <a:srgbClr val="E2E8F0"/>
            </a:solidFill>
            <a:prstDash val="solid"/>
          </a:ln>
        </p:spPr>
      </p:sp>
      <p:sp>
        <p:nvSpPr>
          <p:cNvPr id="39" name="Shape 37"/>
          <p:cNvSpPr/>
          <p:nvPr/>
        </p:nvSpPr>
        <p:spPr>
          <a:xfrm>
            <a:off x="3858768" y="1737360"/>
            <a:ext cx="1444752" cy="54864"/>
          </a:xfrm>
          <a:prstGeom prst="rect">
            <a:avLst/>
          </a:prstGeom>
          <a:solidFill>
            <a:srgbClr val="1A2B5E"/>
          </a:solidFill>
          <a:ln w="12700">
            <a:solidFill>
              <a:srgbClr val="1A2B5E"/>
            </a:solidFill>
            <a:prstDash val="solid"/>
          </a:ln>
        </p:spPr>
      </p:sp>
      <p:sp>
        <p:nvSpPr>
          <p:cNvPr id="40" name="Text 38"/>
          <p:cNvSpPr/>
          <p:nvPr/>
        </p:nvSpPr>
        <p:spPr>
          <a:xfrm>
            <a:off x="3913632"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MySQL</a:t>
            </a:r>
            <a:endParaRPr lang="en-US" sz="1150" dirty="0"/>
          </a:p>
        </p:txBody>
      </p:sp>
      <p:sp>
        <p:nvSpPr>
          <p:cNvPr id="41" name="Text 39"/>
          <p:cNvSpPr/>
          <p:nvPr/>
        </p:nvSpPr>
        <p:spPr>
          <a:xfrm>
            <a:off x="3913632"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Relational data storage</a:t>
            </a:r>
            <a:endParaRPr lang="en-US" sz="950" dirty="0"/>
          </a:p>
        </p:txBody>
      </p:sp>
      <p:sp>
        <p:nvSpPr>
          <p:cNvPr id="42" name="Shape 40"/>
          <p:cNvSpPr/>
          <p:nvPr/>
        </p:nvSpPr>
        <p:spPr>
          <a:xfrm>
            <a:off x="3858768" y="2788920"/>
            <a:ext cx="1444752" cy="914400"/>
          </a:xfrm>
          <a:prstGeom prst="rect">
            <a:avLst/>
          </a:prstGeom>
          <a:solidFill>
            <a:srgbClr val="F1F5FB"/>
          </a:solidFill>
          <a:ln w="12700">
            <a:solidFill>
              <a:srgbClr val="E2E8F0"/>
            </a:solidFill>
            <a:prstDash val="solid"/>
          </a:ln>
        </p:spPr>
      </p:sp>
      <p:sp>
        <p:nvSpPr>
          <p:cNvPr id="43" name="Shape 41"/>
          <p:cNvSpPr/>
          <p:nvPr/>
        </p:nvSpPr>
        <p:spPr>
          <a:xfrm>
            <a:off x="3858768" y="2788920"/>
            <a:ext cx="1444752" cy="54864"/>
          </a:xfrm>
          <a:prstGeom prst="rect">
            <a:avLst/>
          </a:prstGeom>
          <a:solidFill>
            <a:srgbClr val="1A2B5E"/>
          </a:solidFill>
          <a:ln w="12700">
            <a:solidFill>
              <a:srgbClr val="1A2B5E"/>
            </a:solidFill>
            <a:prstDash val="solid"/>
          </a:ln>
        </p:spPr>
      </p:sp>
      <p:sp>
        <p:nvSpPr>
          <p:cNvPr id="44" name="Text 42"/>
          <p:cNvSpPr/>
          <p:nvPr/>
        </p:nvSpPr>
        <p:spPr>
          <a:xfrm>
            <a:off x="3913632"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Django ORM</a:t>
            </a:r>
            <a:endParaRPr lang="en-US" sz="1150" dirty="0"/>
          </a:p>
        </p:txBody>
      </p:sp>
      <p:sp>
        <p:nvSpPr>
          <p:cNvPr id="45" name="Text 43"/>
          <p:cNvSpPr/>
          <p:nvPr/>
        </p:nvSpPr>
        <p:spPr>
          <a:xfrm>
            <a:off x="3913632"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Safe DB interaction</a:t>
            </a:r>
            <a:endParaRPr lang="en-US" sz="950" dirty="0"/>
          </a:p>
        </p:txBody>
      </p:sp>
      <p:sp>
        <p:nvSpPr>
          <p:cNvPr id="46" name="Shape 44"/>
          <p:cNvSpPr/>
          <p:nvPr/>
        </p:nvSpPr>
        <p:spPr>
          <a:xfrm>
            <a:off x="3858768" y="3840480"/>
            <a:ext cx="1444752" cy="914400"/>
          </a:xfrm>
          <a:prstGeom prst="rect">
            <a:avLst/>
          </a:prstGeom>
          <a:solidFill>
            <a:srgbClr val="F1F5FB"/>
          </a:solidFill>
          <a:ln w="12700">
            <a:solidFill>
              <a:srgbClr val="E2E8F0"/>
            </a:solidFill>
            <a:prstDash val="solid"/>
          </a:ln>
        </p:spPr>
      </p:sp>
      <p:sp>
        <p:nvSpPr>
          <p:cNvPr id="47" name="Shape 45"/>
          <p:cNvSpPr/>
          <p:nvPr/>
        </p:nvSpPr>
        <p:spPr>
          <a:xfrm>
            <a:off x="3858768" y="3840480"/>
            <a:ext cx="1444752" cy="54864"/>
          </a:xfrm>
          <a:prstGeom prst="rect">
            <a:avLst/>
          </a:prstGeom>
          <a:solidFill>
            <a:srgbClr val="1A2B5E"/>
          </a:solidFill>
          <a:ln w="12700">
            <a:solidFill>
              <a:srgbClr val="1A2B5E"/>
            </a:solidFill>
            <a:prstDash val="solid"/>
          </a:ln>
        </p:spPr>
      </p:sp>
      <p:sp>
        <p:nvSpPr>
          <p:cNvPr id="48" name="Text 46"/>
          <p:cNvSpPr/>
          <p:nvPr/>
        </p:nvSpPr>
        <p:spPr>
          <a:xfrm>
            <a:off x="3913632"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Migrations</a:t>
            </a:r>
            <a:endParaRPr lang="en-US" sz="1150" dirty="0"/>
          </a:p>
        </p:txBody>
      </p:sp>
      <p:sp>
        <p:nvSpPr>
          <p:cNvPr id="49" name="Text 47"/>
          <p:cNvSpPr/>
          <p:nvPr/>
        </p:nvSpPr>
        <p:spPr>
          <a:xfrm>
            <a:off x="3913632"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Schema management</a:t>
            </a:r>
            <a:endParaRPr lang="en-US" sz="950" dirty="0"/>
          </a:p>
        </p:txBody>
      </p:sp>
      <p:sp>
        <p:nvSpPr>
          <p:cNvPr id="50" name="Shape 48"/>
          <p:cNvSpPr/>
          <p:nvPr/>
        </p:nvSpPr>
        <p:spPr>
          <a:xfrm>
            <a:off x="5522976"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51" name="Shape 49"/>
          <p:cNvSpPr/>
          <p:nvPr/>
        </p:nvSpPr>
        <p:spPr>
          <a:xfrm>
            <a:off x="5522976" y="1115568"/>
            <a:ext cx="1627632" cy="475488"/>
          </a:xfrm>
          <a:prstGeom prst="rect">
            <a:avLst/>
          </a:prstGeom>
          <a:solidFill>
            <a:srgbClr val="F59E0B"/>
          </a:solidFill>
          <a:ln w="12700">
            <a:solidFill>
              <a:srgbClr val="F59E0B"/>
            </a:solidFill>
            <a:prstDash val="solid"/>
          </a:ln>
        </p:spPr>
      </p:sp>
      <p:sp>
        <p:nvSpPr>
          <p:cNvPr id="52" name="Text 50"/>
          <p:cNvSpPr/>
          <p:nvPr/>
        </p:nvSpPr>
        <p:spPr>
          <a:xfrm>
            <a:off x="5522976"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Security</a:t>
            </a:r>
            <a:endParaRPr lang="en-US" sz="1200" dirty="0"/>
          </a:p>
        </p:txBody>
      </p:sp>
      <p:sp>
        <p:nvSpPr>
          <p:cNvPr id="53" name="Shape 51"/>
          <p:cNvSpPr/>
          <p:nvPr/>
        </p:nvSpPr>
        <p:spPr>
          <a:xfrm>
            <a:off x="5614416" y="1737360"/>
            <a:ext cx="1444752" cy="914400"/>
          </a:xfrm>
          <a:prstGeom prst="rect">
            <a:avLst/>
          </a:prstGeom>
          <a:solidFill>
            <a:srgbClr val="F1F5FB"/>
          </a:solidFill>
          <a:ln w="12700">
            <a:solidFill>
              <a:srgbClr val="E2E8F0"/>
            </a:solidFill>
            <a:prstDash val="solid"/>
          </a:ln>
        </p:spPr>
      </p:sp>
      <p:sp>
        <p:nvSpPr>
          <p:cNvPr id="54" name="Shape 52"/>
          <p:cNvSpPr/>
          <p:nvPr/>
        </p:nvSpPr>
        <p:spPr>
          <a:xfrm>
            <a:off x="5614416" y="1737360"/>
            <a:ext cx="1444752" cy="54864"/>
          </a:xfrm>
          <a:prstGeom prst="rect">
            <a:avLst/>
          </a:prstGeom>
          <a:solidFill>
            <a:srgbClr val="F59E0B"/>
          </a:solidFill>
          <a:ln w="12700">
            <a:solidFill>
              <a:srgbClr val="F59E0B"/>
            </a:solidFill>
            <a:prstDash val="solid"/>
          </a:ln>
        </p:spPr>
      </p:sp>
      <p:sp>
        <p:nvSpPr>
          <p:cNvPr id="55" name="Text 53"/>
          <p:cNvSpPr/>
          <p:nvPr/>
        </p:nvSpPr>
        <p:spPr>
          <a:xfrm>
            <a:off x="5669280"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OTP System</a:t>
            </a:r>
            <a:endParaRPr lang="en-US" sz="1150" dirty="0"/>
          </a:p>
        </p:txBody>
      </p:sp>
      <p:sp>
        <p:nvSpPr>
          <p:cNvPr id="56" name="Text 54"/>
          <p:cNvSpPr/>
          <p:nvPr/>
        </p:nvSpPr>
        <p:spPr>
          <a:xfrm>
            <a:off x="5669280"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Two-step verification</a:t>
            </a:r>
            <a:endParaRPr lang="en-US" sz="950" dirty="0"/>
          </a:p>
        </p:txBody>
      </p:sp>
      <p:sp>
        <p:nvSpPr>
          <p:cNvPr id="57" name="Shape 55"/>
          <p:cNvSpPr/>
          <p:nvPr/>
        </p:nvSpPr>
        <p:spPr>
          <a:xfrm>
            <a:off x="5614416" y="2788920"/>
            <a:ext cx="1444752" cy="914400"/>
          </a:xfrm>
          <a:prstGeom prst="rect">
            <a:avLst/>
          </a:prstGeom>
          <a:solidFill>
            <a:srgbClr val="F1F5FB"/>
          </a:solidFill>
          <a:ln w="12700">
            <a:solidFill>
              <a:srgbClr val="E2E8F0"/>
            </a:solidFill>
            <a:prstDash val="solid"/>
          </a:ln>
        </p:spPr>
      </p:sp>
      <p:sp>
        <p:nvSpPr>
          <p:cNvPr id="58" name="Shape 56"/>
          <p:cNvSpPr/>
          <p:nvPr/>
        </p:nvSpPr>
        <p:spPr>
          <a:xfrm>
            <a:off x="5614416" y="2788920"/>
            <a:ext cx="1444752" cy="54864"/>
          </a:xfrm>
          <a:prstGeom prst="rect">
            <a:avLst/>
          </a:prstGeom>
          <a:solidFill>
            <a:srgbClr val="F59E0B"/>
          </a:solidFill>
          <a:ln w="12700">
            <a:solidFill>
              <a:srgbClr val="F59E0B"/>
            </a:solidFill>
            <a:prstDash val="solid"/>
          </a:ln>
        </p:spPr>
      </p:sp>
      <p:sp>
        <p:nvSpPr>
          <p:cNvPr id="59" name="Text 57"/>
          <p:cNvSpPr/>
          <p:nvPr/>
        </p:nvSpPr>
        <p:spPr>
          <a:xfrm>
            <a:off x="5669280"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CSRF Tokens</a:t>
            </a:r>
            <a:endParaRPr lang="en-US" sz="1150" dirty="0"/>
          </a:p>
        </p:txBody>
      </p:sp>
      <p:sp>
        <p:nvSpPr>
          <p:cNvPr id="60" name="Text 58"/>
          <p:cNvSpPr/>
          <p:nvPr/>
        </p:nvSpPr>
        <p:spPr>
          <a:xfrm>
            <a:off x="5669280"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Form protection</a:t>
            </a:r>
            <a:endParaRPr lang="en-US" sz="950" dirty="0"/>
          </a:p>
        </p:txBody>
      </p:sp>
      <p:sp>
        <p:nvSpPr>
          <p:cNvPr id="61" name="Shape 59"/>
          <p:cNvSpPr/>
          <p:nvPr/>
        </p:nvSpPr>
        <p:spPr>
          <a:xfrm>
            <a:off x="5614416" y="3840480"/>
            <a:ext cx="1444752" cy="914400"/>
          </a:xfrm>
          <a:prstGeom prst="rect">
            <a:avLst/>
          </a:prstGeom>
          <a:solidFill>
            <a:srgbClr val="F1F5FB"/>
          </a:solidFill>
          <a:ln w="12700">
            <a:solidFill>
              <a:srgbClr val="E2E8F0"/>
            </a:solidFill>
            <a:prstDash val="solid"/>
          </a:ln>
        </p:spPr>
      </p:sp>
      <p:sp>
        <p:nvSpPr>
          <p:cNvPr id="62" name="Shape 60"/>
          <p:cNvSpPr/>
          <p:nvPr/>
        </p:nvSpPr>
        <p:spPr>
          <a:xfrm>
            <a:off x="5614416" y="3840480"/>
            <a:ext cx="1444752" cy="54864"/>
          </a:xfrm>
          <a:prstGeom prst="rect">
            <a:avLst/>
          </a:prstGeom>
          <a:solidFill>
            <a:srgbClr val="F59E0B"/>
          </a:solidFill>
          <a:ln w="12700">
            <a:solidFill>
              <a:srgbClr val="F59E0B"/>
            </a:solidFill>
            <a:prstDash val="solid"/>
          </a:ln>
        </p:spPr>
      </p:sp>
      <p:sp>
        <p:nvSpPr>
          <p:cNvPr id="63" name="Text 61"/>
          <p:cNvSpPr/>
          <p:nvPr/>
        </p:nvSpPr>
        <p:spPr>
          <a:xfrm>
            <a:off x="5669280"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Sessions</a:t>
            </a:r>
            <a:endParaRPr lang="en-US" sz="1150" dirty="0"/>
          </a:p>
        </p:txBody>
      </p:sp>
      <p:sp>
        <p:nvSpPr>
          <p:cNvPr id="64" name="Text 62"/>
          <p:cNvSpPr/>
          <p:nvPr/>
        </p:nvSpPr>
        <p:spPr>
          <a:xfrm>
            <a:off x="5669280"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State management</a:t>
            </a:r>
            <a:endParaRPr lang="en-US" sz="950" dirty="0"/>
          </a:p>
        </p:txBody>
      </p:sp>
      <p:sp>
        <p:nvSpPr>
          <p:cNvPr id="65" name="Shape 63"/>
          <p:cNvSpPr/>
          <p:nvPr/>
        </p:nvSpPr>
        <p:spPr>
          <a:xfrm>
            <a:off x="7278624" y="1115568"/>
            <a:ext cx="1627632" cy="37947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66" name="Shape 64"/>
          <p:cNvSpPr/>
          <p:nvPr/>
        </p:nvSpPr>
        <p:spPr>
          <a:xfrm>
            <a:off x="7278624" y="1115568"/>
            <a:ext cx="1627632" cy="475488"/>
          </a:xfrm>
          <a:prstGeom prst="rect">
            <a:avLst/>
          </a:prstGeom>
          <a:solidFill>
            <a:srgbClr val="8B5CF6"/>
          </a:solidFill>
          <a:ln w="12700">
            <a:solidFill>
              <a:srgbClr val="8B5CF6"/>
            </a:solidFill>
            <a:prstDash val="solid"/>
          </a:ln>
        </p:spPr>
      </p:sp>
      <p:sp>
        <p:nvSpPr>
          <p:cNvPr id="67" name="Text 65"/>
          <p:cNvSpPr/>
          <p:nvPr/>
        </p:nvSpPr>
        <p:spPr>
          <a:xfrm>
            <a:off x="7278624" y="1143000"/>
            <a:ext cx="1627632"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Comms</a:t>
            </a:r>
            <a:endParaRPr lang="en-US" sz="1200" dirty="0"/>
          </a:p>
        </p:txBody>
      </p:sp>
      <p:sp>
        <p:nvSpPr>
          <p:cNvPr id="68" name="Shape 66"/>
          <p:cNvSpPr/>
          <p:nvPr/>
        </p:nvSpPr>
        <p:spPr>
          <a:xfrm>
            <a:off x="7370064" y="1737360"/>
            <a:ext cx="1444752" cy="914400"/>
          </a:xfrm>
          <a:prstGeom prst="rect">
            <a:avLst/>
          </a:prstGeom>
          <a:solidFill>
            <a:srgbClr val="F1F5FB"/>
          </a:solidFill>
          <a:ln w="12700">
            <a:solidFill>
              <a:srgbClr val="E2E8F0"/>
            </a:solidFill>
            <a:prstDash val="solid"/>
          </a:ln>
        </p:spPr>
      </p:sp>
      <p:sp>
        <p:nvSpPr>
          <p:cNvPr id="69" name="Shape 67"/>
          <p:cNvSpPr/>
          <p:nvPr/>
        </p:nvSpPr>
        <p:spPr>
          <a:xfrm>
            <a:off x="7370064" y="1737360"/>
            <a:ext cx="1444752" cy="54864"/>
          </a:xfrm>
          <a:prstGeom prst="rect">
            <a:avLst/>
          </a:prstGeom>
          <a:solidFill>
            <a:srgbClr val="8B5CF6"/>
          </a:solidFill>
          <a:ln w="12700">
            <a:solidFill>
              <a:srgbClr val="8B5CF6"/>
            </a:solidFill>
            <a:prstDash val="solid"/>
          </a:ln>
        </p:spPr>
      </p:sp>
      <p:sp>
        <p:nvSpPr>
          <p:cNvPr id="70" name="Text 68"/>
          <p:cNvSpPr/>
          <p:nvPr/>
        </p:nvSpPr>
        <p:spPr>
          <a:xfrm>
            <a:off x="7424928" y="182880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SMTP / Email</a:t>
            </a:r>
            <a:endParaRPr lang="en-US" sz="1150" dirty="0"/>
          </a:p>
        </p:txBody>
      </p:sp>
      <p:sp>
        <p:nvSpPr>
          <p:cNvPr id="71" name="Text 69"/>
          <p:cNvSpPr/>
          <p:nvPr/>
        </p:nvSpPr>
        <p:spPr>
          <a:xfrm>
            <a:off x="7424928" y="223113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Booking confirmations</a:t>
            </a:r>
            <a:endParaRPr lang="en-US" sz="950" dirty="0"/>
          </a:p>
        </p:txBody>
      </p:sp>
      <p:sp>
        <p:nvSpPr>
          <p:cNvPr id="72" name="Shape 70"/>
          <p:cNvSpPr/>
          <p:nvPr/>
        </p:nvSpPr>
        <p:spPr>
          <a:xfrm>
            <a:off x="7370064" y="2788920"/>
            <a:ext cx="1444752" cy="914400"/>
          </a:xfrm>
          <a:prstGeom prst="rect">
            <a:avLst/>
          </a:prstGeom>
          <a:solidFill>
            <a:srgbClr val="F1F5FB"/>
          </a:solidFill>
          <a:ln w="12700">
            <a:solidFill>
              <a:srgbClr val="E2E8F0"/>
            </a:solidFill>
            <a:prstDash val="solid"/>
          </a:ln>
        </p:spPr>
      </p:sp>
      <p:sp>
        <p:nvSpPr>
          <p:cNvPr id="73" name="Shape 71"/>
          <p:cNvSpPr/>
          <p:nvPr/>
        </p:nvSpPr>
        <p:spPr>
          <a:xfrm>
            <a:off x="7370064" y="2788920"/>
            <a:ext cx="1444752" cy="54864"/>
          </a:xfrm>
          <a:prstGeom prst="rect">
            <a:avLst/>
          </a:prstGeom>
          <a:solidFill>
            <a:srgbClr val="8B5CF6"/>
          </a:solidFill>
          <a:ln w="12700">
            <a:solidFill>
              <a:srgbClr val="8B5CF6"/>
            </a:solidFill>
            <a:prstDash val="solid"/>
          </a:ln>
        </p:spPr>
      </p:sp>
      <p:sp>
        <p:nvSpPr>
          <p:cNvPr id="74" name="Text 72"/>
          <p:cNvSpPr/>
          <p:nvPr/>
        </p:nvSpPr>
        <p:spPr>
          <a:xfrm>
            <a:off x="7424928" y="288036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Django Mail</a:t>
            </a:r>
            <a:endParaRPr lang="en-US" sz="1150" dirty="0"/>
          </a:p>
        </p:txBody>
      </p:sp>
      <p:sp>
        <p:nvSpPr>
          <p:cNvPr id="75" name="Text 73"/>
          <p:cNvSpPr/>
          <p:nvPr/>
        </p:nvSpPr>
        <p:spPr>
          <a:xfrm>
            <a:off x="7424928" y="328269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Email backend</a:t>
            </a:r>
            <a:endParaRPr lang="en-US" sz="950" dirty="0"/>
          </a:p>
        </p:txBody>
      </p:sp>
      <p:sp>
        <p:nvSpPr>
          <p:cNvPr id="76" name="Shape 74"/>
          <p:cNvSpPr/>
          <p:nvPr/>
        </p:nvSpPr>
        <p:spPr>
          <a:xfrm>
            <a:off x="7370064" y="3840480"/>
            <a:ext cx="1444752" cy="914400"/>
          </a:xfrm>
          <a:prstGeom prst="rect">
            <a:avLst/>
          </a:prstGeom>
          <a:solidFill>
            <a:srgbClr val="F1F5FB"/>
          </a:solidFill>
          <a:ln w="12700">
            <a:solidFill>
              <a:srgbClr val="E2E8F0"/>
            </a:solidFill>
            <a:prstDash val="solid"/>
          </a:ln>
        </p:spPr>
      </p:sp>
      <p:sp>
        <p:nvSpPr>
          <p:cNvPr id="77" name="Shape 75"/>
          <p:cNvSpPr/>
          <p:nvPr/>
        </p:nvSpPr>
        <p:spPr>
          <a:xfrm>
            <a:off x="7370064" y="3840480"/>
            <a:ext cx="1444752" cy="54864"/>
          </a:xfrm>
          <a:prstGeom prst="rect">
            <a:avLst/>
          </a:prstGeom>
          <a:solidFill>
            <a:srgbClr val="8B5CF6"/>
          </a:solidFill>
          <a:ln w="12700">
            <a:solidFill>
              <a:srgbClr val="8B5CF6"/>
            </a:solidFill>
            <a:prstDash val="solid"/>
          </a:ln>
        </p:spPr>
      </p:sp>
      <p:sp>
        <p:nvSpPr>
          <p:cNvPr id="78" name="Text 76"/>
          <p:cNvSpPr/>
          <p:nvPr/>
        </p:nvSpPr>
        <p:spPr>
          <a:xfrm>
            <a:off x="7424928" y="3931920"/>
            <a:ext cx="1335024" cy="347472"/>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PNR System</a:t>
            </a:r>
            <a:endParaRPr lang="en-US" sz="1150" dirty="0"/>
          </a:p>
        </p:txBody>
      </p:sp>
      <p:sp>
        <p:nvSpPr>
          <p:cNvPr id="79" name="Text 77"/>
          <p:cNvSpPr/>
          <p:nvPr/>
        </p:nvSpPr>
        <p:spPr>
          <a:xfrm>
            <a:off x="7424928" y="4334256"/>
            <a:ext cx="1335024"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Unique booking IDs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B5E"/>
          </a:solidFill>
          <a:ln w="12700">
            <a:solidFill>
              <a:srgbClr val="1A2B5E"/>
            </a:solidFill>
            <a:prstDash val="solid"/>
          </a:ln>
        </p:spPr>
      </p:sp>
      <p:sp>
        <p:nvSpPr>
          <p:cNvPr id="3" name="Text 1"/>
          <p:cNvSpPr/>
          <p:nvPr/>
        </p:nvSpPr>
        <p:spPr>
          <a:xfrm>
            <a:off x="411480" y="73152"/>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End-to-End System Flow</a:t>
            </a:r>
            <a:endParaRPr lang="en-US" sz="2600" dirty="0"/>
          </a:p>
        </p:txBody>
      </p:sp>
      <p:sp>
        <p:nvSpPr>
          <p:cNvPr id="4" name="Text 2"/>
          <p:cNvSpPr/>
          <p:nvPr/>
        </p:nvSpPr>
        <p:spPr>
          <a:xfrm>
            <a:off x="411480" y="640080"/>
            <a:ext cx="8321040" cy="310896"/>
          </a:xfrm>
          <a:prstGeom prst="rect">
            <a:avLst/>
          </a:prstGeom>
          <a:noFill/>
          <a:ln/>
        </p:spPr>
        <p:txBody>
          <a:bodyPr wrap="square" lIns="0" tIns="0" rIns="0" bIns="0" rtlCol="0" anchor="ctr"/>
          <a:lstStyle/>
          <a:p>
            <a:pPr marL="0" indent="0">
              <a:buNone/>
            </a:pPr>
            <a:r>
              <a:rPr lang="en-US" sz="1150" dirty="0">
                <a:solidFill>
                  <a:srgbClr val="BFDBFE"/>
                </a:solidFill>
                <a:latin typeface="Calibri" pitchFamily="34" charset="0"/>
                <a:ea typeface="Calibri" pitchFamily="34" charset="-122"/>
                <a:cs typeface="Calibri" pitchFamily="34" charset="-120"/>
              </a:rPr>
              <a:t>Complete booking journey from registration to confirmed ticket</a:t>
            </a:r>
            <a:endParaRPr lang="en-US" sz="1150" dirty="0"/>
          </a:p>
        </p:txBody>
      </p:sp>
      <p:sp>
        <p:nvSpPr>
          <p:cNvPr id="5" name="Shape 3"/>
          <p:cNvSpPr/>
          <p:nvPr/>
        </p:nvSpPr>
        <p:spPr>
          <a:xfrm>
            <a:off x="411480" y="1234440"/>
            <a:ext cx="1920240" cy="114300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sp>
      <p:sp>
        <p:nvSpPr>
          <p:cNvPr id="6" name="Text 4"/>
          <p:cNvSpPr/>
          <p:nvPr/>
        </p:nvSpPr>
        <p:spPr>
          <a:xfrm>
            <a:off x="411480" y="12984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7" name="Text 5"/>
          <p:cNvSpPr/>
          <p:nvPr/>
        </p:nvSpPr>
        <p:spPr>
          <a:xfrm>
            <a:off x="411480" y="1773936"/>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Register / Login</a:t>
            </a:r>
            <a:endParaRPr lang="en-US" sz="1050" dirty="0"/>
          </a:p>
        </p:txBody>
      </p:sp>
      <p:sp>
        <p:nvSpPr>
          <p:cNvPr id="8" name="Shape 6"/>
          <p:cNvSpPr/>
          <p:nvPr/>
        </p:nvSpPr>
        <p:spPr>
          <a:xfrm>
            <a:off x="2331720" y="1805940"/>
            <a:ext cx="228600" cy="0"/>
          </a:xfrm>
          <a:prstGeom prst="line">
            <a:avLst/>
          </a:prstGeom>
          <a:noFill/>
          <a:ln w="25400">
            <a:solidFill>
              <a:srgbClr val="64748B"/>
            </a:solidFill>
            <a:prstDash val="solid"/>
          </a:ln>
        </p:spPr>
      </p:sp>
      <p:sp>
        <p:nvSpPr>
          <p:cNvPr id="9" name="Text 7"/>
          <p:cNvSpPr/>
          <p:nvPr/>
        </p:nvSpPr>
        <p:spPr>
          <a:xfrm>
            <a:off x="2423160" y="17099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2560320" y="1234440"/>
            <a:ext cx="1920240" cy="114300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sp>
      <p:sp>
        <p:nvSpPr>
          <p:cNvPr id="11" name="Text 9"/>
          <p:cNvSpPr/>
          <p:nvPr/>
        </p:nvSpPr>
        <p:spPr>
          <a:xfrm>
            <a:off x="2560320" y="12984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2" name="Text 10"/>
          <p:cNvSpPr/>
          <p:nvPr/>
        </p:nvSpPr>
        <p:spPr>
          <a:xfrm>
            <a:off x="2560320" y="1773936"/>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OTP Verify</a:t>
            </a:r>
            <a:endParaRPr lang="en-US" sz="1050" dirty="0"/>
          </a:p>
        </p:txBody>
      </p:sp>
      <p:sp>
        <p:nvSpPr>
          <p:cNvPr id="13" name="Shape 11"/>
          <p:cNvSpPr/>
          <p:nvPr/>
        </p:nvSpPr>
        <p:spPr>
          <a:xfrm>
            <a:off x="4480560" y="1805940"/>
            <a:ext cx="228600" cy="0"/>
          </a:xfrm>
          <a:prstGeom prst="line">
            <a:avLst/>
          </a:prstGeom>
          <a:noFill/>
          <a:ln w="25400">
            <a:solidFill>
              <a:srgbClr val="64748B"/>
            </a:solidFill>
            <a:prstDash val="solid"/>
          </a:ln>
        </p:spPr>
      </p:sp>
      <p:sp>
        <p:nvSpPr>
          <p:cNvPr id="14" name="Text 12"/>
          <p:cNvSpPr/>
          <p:nvPr/>
        </p:nvSpPr>
        <p:spPr>
          <a:xfrm>
            <a:off x="4572000" y="17099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4709160" y="1234440"/>
            <a:ext cx="1920240" cy="114300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16" name="Text 14"/>
          <p:cNvSpPr/>
          <p:nvPr/>
        </p:nvSpPr>
        <p:spPr>
          <a:xfrm>
            <a:off x="4709160" y="12984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7" name="Text 15"/>
          <p:cNvSpPr/>
          <p:nvPr/>
        </p:nvSpPr>
        <p:spPr>
          <a:xfrm>
            <a:off x="4709160" y="1773936"/>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Browse Trains</a:t>
            </a:r>
            <a:endParaRPr lang="en-US" sz="1050" dirty="0"/>
          </a:p>
        </p:txBody>
      </p:sp>
      <p:sp>
        <p:nvSpPr>
          <p:cNvPr id="18" name="Shape 16"/>
          <p:cNvSpPr/>
          <p:nvPr/>
        </p:nvSpPr>
        <p:spPr>
          <a:xfrm>
            <a:off x="6629400" y="1805940"/>
            <a:ext cx="228600" cy="0"/>
          </a:xfrm>
          <a:prstGeom prst="line">
            <a:avLst/>
          </a:prstGeom>
          <a:noFill/>
          <a:ln w="25400">
            <a:solidFill>
              <a:srgbClr val="64748B"/>
            </a:solidFill>
            <a:prstDash val="solid"/>
          </a:ln>
        </p:spPr>
      </p:sp>
      <p:sp>
        <p:nvSpPr>
          <p:cNvPr id="19" name="Text 17"/>
          <p:cNvSpPr/>
          <p:nvPr/>
        </p:nvSpPr>
        <p:spPr>
          <a:xfrm>
            <a:off x="6720840" y="17099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858000" y="1234440"/>
            <a:ext cx="1920240" cy="114300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sp>
      <p:sp>
        <p:nvSpPr>
          <p:cNvPr id="21" name="Text 19"/>
          <p:cNvSpPr/>
          <p:nvPr/>
        </p:nvSpPr>
        <p:spPr>
          <a:xfrm>
            <a:off x="6858000" y="12984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2" name="Text 20"/>
          <p:cNvSpPr/>
          <p:nvPr/>
        </p:nvSpPr>
        <p:spPr>
          <a:xfrm>
            <a:off x="6858000" y="1773936"/>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Fill Booking Form</a:t>
            </a:r>
            <a:endParaRPr lang="en-US" sz="1050" dirty="0"/>
          </a:p>
        </p:txBody>
      </p:sp>
      <p:sp>
        <p:nvSpPr>
          <p:cNvPr id="23" name="Shape 21"/>
          <p:cNvSpPr/>
          <p:nvPr/>
        </p:nvSpPr>
        <p:spPr>
          <a:xfrm>
            <a:off x="8275320" y="2377440"/>
            <a:ext cx="0" cy="411480"/>
          </a:xfrm>
          <a:prstGeom prst="line">
            <a:avLst/>
          </a:prstGeom>
          <a:noFill/>
          <a:ln w="25400">
            <a:solidFill>
              <a:srgbClr val="64748B"/>
            </a:solidFill>
            <a:prstDash val="solid"/>
          </a:ln>
        </p:spPr>
      </p:sp>
      <p:sp>
        <p:nvSpPr>
          <p:cNvPr id="24" name="Text 22"/>
          <p:cNvSpPr/>
          <p:nvPr/>
        </p:nvSpPr>
        <p:spPr>
          <a:xfrm>
            <a:off x="8165592" y="2578608"/>
            <a:ext cx="237744"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411480" y="2834640"/>
            <a:ext cx="1920240" cy="1143000"/>
          </a:xfrm>
          <a:prstGeom prst="rect">
            <a:avLst/>
          </a:prstGeom>
          <a:solidFill>
            <a:srgbClr val="8B5CF6"/>
          </a:solidFill>
          <a:ln w="12700">
            <a:solidFill>
              <a:srgbClr val="8B5CF6"/>
            </a:solidFill>
            <a:prstDash val="solid"/>
          </a:ln>
          <a:effectLst>
            <a:outerShdw blurRad="101600" dist="38100" dir="8100000" algn="bl" rotWithShape="0">
              <a:srgbClr val="000000">
                <a:alpha val="12000"/>
              </a:srgbClr>
            </a:outerShdw>
          </a:effectLst>
        </p:spPr>
      </p:sp>
      <p:sp>
        <p:nvSpPr>
          <p:cNvPr id="26" name="Text 24"/>
          <p:cNvSpPr/>
          <p:nvPr/>
        </p:nvSpPr>
        <p:spPr>
          <a:xfrm>
            <a:off x="411480" y="28986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7" name="Text 25"/>
          <p:cNvSpPr/>
          <p:nvPr/>
        </p:nvSpPr>
        <p:spPr>
          <a:xfrm>
            <a:off x="411480" y="3364992"/>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Email Sent</a:t>
            </a:r>
            <a:endParaRPr lang="en-US" sz="1050" dirty="0"/>
          </a:p>
        </p:txBody>
      </p:sp>
      <p:sp>
        <p:nvSpPr>
          <p:cNvPr id="28" name="Shape 26"/>
          <p:cNvSpPr/>
          <p:nvPr/>
        </p:nvSpPr>
        <p:spPr>
          <a:xfrm>
            <a:off x="2331720" y="3410712"/>
            <a:ext cx="228600" cy="0"/>
          </a:xfrm>
          <a:prstGeom prst="line">
            <a:avLst/>
          </a:prstGeom>
          <a:noFill/>
          <a:ln w="25400">
            <a:solidFill>
              <a:srgbClr val="64748B"/>
            </a:solidFill>
            <a:prstDash val="solid"/>
          </a:ln>
        </p:spPr>
      </p:sp>
      <p:sp>
        <p:nvSpPr>
          <p:cNvPr id="29" name="Text 27"/>
          <p:cNvSpPr/>
          <p:nvPr/>
        </p:nvSpPr>
        <p:spPr>
          <a:xfrm>
            <a:off x="2368296" y="33101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2560320" y="2834640"/>
            <a:ext cx="1920240" cy="1143000"/>
          </a:xfrm>
          <a:prstGeom prst="rect">
            <a:avLst/>
          </a:prstGeom>
          <a:solidFill>
            <a:srgbClr val="F59E0B"/>
          </a:solidFill>
          <a:ln w="12700">
            <a:solidFill>
              <a:srgbClr val="F59E0B"/>
            </a:solidFill>
            <a:prstDash val="solid"/>
          </a:ln>
          <a:effectLst>
            <a:outerShdw blurRad="101600" dist="38100" dir="8100000" algn="bl" rotWithShape="0">
              <a:srgbClr val="000000">
                <a:alpha val="12000"/>
              </a:srgbClr>
            </a:outerShdw>
          </a:effectLst>
        </p:spPr>
      </p:sp>
      <p:sp>
        <p:nvSpPr>
          <p:cNvPr id="31" name="Text 29"/>
          <p:cNvSpPr/>
          <p:nvPr/>
        </p:nvSpPr>
        <p:spPr>
          <a:xfrm>
            <a:off x="2560320" y="28986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32" name="Text 30"/>
          <p:cNvSpPr/>
          <p:nvPr/>
        </p:nvSpPr>
        <p:spPr>
          <a:xfrm>
            <a:off x="2560320" y="3364992"/>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PNR Generated</a:t>
            </a:r>
            <a:endParaRPr lang="en-US" sz="1050" dirty="0"/>
          </a:p>
        </p:txBody>
      </p:sp>
      <p:sp>
        <p:nvSpPr>
          <p:cNvPr id="33" name="Shape 31"/>
          <p:cNvSpPr/>
          <p:nvPr/>
        </p:nvSpPr>
        <p:spPr>
          <a:xfrm>
            <a:off x="4480560" y="3410712"/>
            <a:ext cx="228600" cy="0"/>
          </a:xfrm>
          <a:prstGeom prst="line">
            <a:avLst/>
          </a:prstGeom>
          <a:noFill/>
          <a:ln w="25400">
            <a:solidFill>
              <a:srgbClr val="64748B"/>
            </a:solidFill>
            <a:prstDash val="solid"/>
          </a:ln>
        </p:spPr>
      </p:sp>
      <p:sp>
        <p:nvSpPr>
          <p:cNvPr id="34" name="Text 32"/>
          <p:cNvSpPr/>
          <p:nvPr/>
        </p:nvSpPr>
        <p:spPr>
          <a:xfrm>
            <a:off x="4517136" y="33101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35" name="Shape 33"/>
          <p:cNvSpPr/>
          <p:nvPr/>
        </p:nvSpPr>
        <p:spPr>
          <a:xfrm>
            <a:off x="4709160" y="2834640"/>
            <a:ext cx="1920240" cy="114300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36" name="Text 34"/>
          <p:cNvSpPr/>
          <p:nvPr/>
        </p:nvSpPr>
        <p:spPr>
          <a:xfrm>
            <a:off x="4709160" y="28986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37" name="Text 35"/>
          <p:cNvSpPr/>
          <p:nvPr/>
        </p:nvSpPr>
        <p:spPr>
          <a:xfrm>
            <a:off x="4709160" y="3364992"/>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Confirm Booking</a:t>
            </a:r>
            <a:endParaRPr lang="en-US" sz="1050" dirty="0"/>
          </a:p>
        </p:txBody>
      </p:sp>
      <p:sp>
        <p:nvSpPr>
          <p:cNvPr id="38" name="Shape 36"/>
          <p:cNvSpPr/>
          <p:nvPr/>
        </p:nvSpPr>
        <p:spPr>
          <a:xfrm>
            <a:off x="6629400" y="3410712"/>
            <a:ext cx="228600" cy="0"/>
          </a:xfrm>
          <a:prstGeom prst="line">
            <a:avLst/>
          </a:prstGeom>
          <a:noFill/>
          <a:ln w="25400">
            <a:solidFill>
              <a:srgbClr val="64748B"/>
            </a:solidFill>
            <a:prstDash val="solid"/>
          </a:ln>
        </p:spPr>
      </p:sp>
      <p:sp>
        <p:nvSpPr>
          <p:cNvPr id="39" name="Text 37"/>
          <p:cNvSpPr/>
          <p:nvPr/>
        </p:nvSpPr>
        <p:spPr>
          <a:xfrm>
            <a:off x="6665976" y="3310128"/>
            <a:ext cx="201168"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40" name="Shape 38"/>
          <p:cNvSpPr/>
          <p:nvPr/>
        </p:nvSpPr>
        <p:spPr>
          <a:xfrm>
            <a:off x="6858000" y="2834640"/>
            <a:ext cx="1920240" cy="1143000"/>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sp>
      <p:sp>
        <p:nvSpPr>
          <p:cNvPr id="41" name="Text 39"/>
          <p:cNvSpPr/>
          <p:nvPr/>
        </p:nvSpPr>
        <p:spPr>
          <a:xfrm>
            <a:off x="6858000" y="2898648"/>
            <a:ext cx="1920240" cy="47548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42" name="Text 40"/>
          <p:cNvSpPr/>
          <p:nvPr/>
        </p:nvSpPr>
        <p:spPr>
          <a:xfrm>
            <a:off x="6858000" y="3364992"/>
            <a:ext cx="1920240"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Validate Date &amp; Seats</a:t>
            </a:r>
            <a:endParaRPr lang="en-US" sz="1050" dirty="0"/>
          </a:p>
        </p:txBody>
      </p:sp>
      <p:sp>
        <p:nvSpPr>
          <p:cNvPr id="43" name="Text 41"/>
          <p:cNvSpPr/>
          <p:nvPr/>
        </p:nvSpPr>
        <p:spPr>
          <a:xfrm>
            <a:off x="365760" y="2468880"/>
            <a:ext cx="7772400" cy="256032"/>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  Row 2 flows right to left (continues from top-right)</a:t>
            </a:r>
            <a:endParaRPr lang="en-US" sz="950" dirty="0"/>
          </a:p>
        </p:txBody>
      </p:sp>
      <p:sp>
        <p:nvSpPr>
          <p:cNvPr id="44" name="Shape 42"/>
          <p:cNvSpPr/>
          <p:nvPr/>
        </p:nvSpPr>
        <p:spPr>
          <a:xfrm>
            <a:off x="365760" y="4133088"/>
            <a:ext cx="8412480" cy="713232"/>
          </a:xfrm>
          <a:prstGeom prst="rect">
            <a:avLst/>
          </a:prstGeom>
          <a:solidFill>
            <a:srgbClr val="DBEAFE"/>
          </a:solidFill>
          <a:ln w="12700">
            <a:solidFill>
              <a:srgbClr val="2563EB"/>
            </a:solidFill>
            <a:prstDash val="solid"/>
          </a:ln>
        </p:spPr>
      </p:sp>
      <p:sp>
        <p:nvSpPr>
          <p:cNvPr id="45" name="Text 43"/>
          <p:cNvSpPr/>
          <p:nvPr/>
        </p:nvSpPr>
        <p:spPr>
          <a:xfrm>
            <a:off x="502920" y="4169664"/>
            <a:ext cx="8183880" cy="640080"/>
          </a:xfrm>
          <a:prstGeom prst="rect">
            <a:avLst/>
          </a:prstGeom>
          <a:noFill/>
          <a:ln/>
        </p:spPr>
        <p:txBody>
          <a:bodyPr wrap="square" rtlCol="0" anchor="ctr"/>
          <a:lstStyle/>
          <a:p>
            <a:pPr marL="0" indent="0">
              <a:buNone/>
            </a:pPr>
            <a:r>
              <a:rPr lang="en-US" sz="1050" b="1" dirty="0">
                <a:solidFill>
                  <a:srgbClr val="1A2B5E"/>
                </a:solidFill>
                <a:latin typeface="Calibri" pitchFamily="34" charset="0"/>
                <a:ea typeface="Calibri" pitchFamily="34" charset="-122"/>
                <a:cs typeface="Calibri" pitchFamily="34" charset="-120"/>
              </a:rPr>
              <a:t>Admin Parallel Flow: </a:t>
            </a:r>
            <a:r>
              <a:rPr lang="en-US" sz="1050" dirty="0">
                <a:solidFill>
                  <a:srgbClr val="1E293B"/>
                </a:solidFill>
                <a:latin typeface="Calibri" pitchFamily="34" charset="0"/>
                <a:ea typeface="Calibri" pitchFamily="34" charset="-122"/>
                <a:cs typeface="Calibri" pitchFamily="34" charset="-120"/>
              </a:rPr>
              <a:t>At any point, the admin logs into a separate portal to manage trains, monitor all bookings, review users, and generate system reports — completely independent of the user booking flow.</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B5E"/>
        </a:solidFill>
        <a:effectLst/>
      </p:bgPr>
    </p:bg>
    <p:spTree>
      <p:nvGrpSpPr>
        <p:cNvPr id="1" name=""/>
        <p:cNvGrpSpPr/>
        <p:nvPr/>
      </p:nvGrpSpPr>
      <p:grpSpPr>
        <a:xfrm>
          <a:off x="0" y="0"/>
          <a:ext cx="0" cy="0"/>
          <a:chOff x="0" y="0"/>
          <a:chExt cx="0" cy="0"/>
        </a:xfrm>
      </p:grpSpPr>
      <p:sp>
        <p:nvSpPr>
          <p:cNvPr id="2" name="Shape 0"/>
          <p:cNvSpPr/>
          <p:nvPr/>
        </p:nvSpPr>
        <p:spPr>
          <a:xfrm>
            <a:off x="6858000" y="-1188720"/>
            <a:ext cx="4572000" cy="4572000"/>
          </a:xfrm>
          <a:prstGeom prst="ellipse">
            <a:avLst/>
          </a:prstGeom>
          <a:solidFill>
            <a:srgbClr val="1E3A8A">
              <a:alpha val="45000"/>
            </a:srgbClr>
          </a:solidFill>
          <a:ln w="12700">
            <a:solidFill>
              <a:srgbClr val="1E3A8A">
                <a:alpha val="45000"/>
              </a:srgbClr>
            </a:solidFill>
            <a:prstDash val="solid"/>
          </a:ln>
        </p:spPr>
      </p:sp>
      <p:sp>
        <p:nvSpPr>
          <p:cNvPr id="3" name="Shape 1"/>
          <p:cNvSpPr/>
          <p:nvPr/>
        </p:nvSpPr>
        <p:spPr>
          <a:xfrm>
            <a:off x="-1371600" y="2743200"/>
            <a:ext cx="3657600" cy="3657600"/>
          </a:xfrm>
          <a:prstGeom prst="ellipse">
            <a:avLst/>
          </a:prstGeom>
          <a:solidFill>
            <a:srgbClr val="1E3A8A">
              <a:alpha val="45000"/>
            </a:srgbClr>
          </a:solidFill>
          <a:ln w="12700">
            <a:solidFill>
              <a:srgbClr val="1E3A8A">
                <a:alpha val="45000"/>
              </a:srgbClr>
            </a:solidFill>
            <a:prstDash val="solid"/>
          </a:ln>
        </p:spPr>
      </p:sp>
      <p:sp>
        <p:nvSpPr>
          <p:cNvPr id="4" name="Text 2"/>
          <p:cNvSpPr/>
          <p:nvPr/>
        </p:nvSpPr>
        <p:spPr>
          <a:xfrm>
            <a:off x="457200" y="182880"/>
            <a:ext cx="8229600" cy="62179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Future Enhancements &amp; Conclusion</a:t>
            </a:r>
            <a:endParaRPr lang="en-US" sz="2800" dirty="0"/>
          </a:p>
        </p:txBody>
      </p:sp>
      <p:sp>
        <p:nvSpPr>
          <p:cNvPr id="5" name="Shape 3"/>
          <p:cNvSpPr/>
          <p:nvPr/>
        </p:nvSpPr>
        <p:spPr>
          <a:xfrm>
            <a:off x="457200" y="868680"/>
            <a:ext cx="5029200" cy="45720"/>
          </a:xfrm>
          <a:prstGeom prst="rect">
            <a:avLst/>
          </a:prstGeom>
          <a:solidFill>
            <a:srgbClr val="F59E0B"/>
          </a:solidFill>
          <a:ln w="12700">
            <a:solidFill>
              <a:srgbClr val="F59E0B"/>
            </a:solidFill>
            <a:prstDash val="solid"/>
          </a:ln>
        </p:spPr>
      </p:sp>
      <p:sp>
        <p:nvSpPr>
          <p:cNvPr id="6" name="Text 4"/>
          <p:cNvSpPr/>
          <p:nvPr/>
        </p:nvSpPr>
        <p:spPr>
          <a:xfrm>
            <a:off x="457200" y="987552"/>
            <a:ext cx="4572000" cy="274320"/>
          </a:xfrm>
          <a:prstGeom prst="rect">
            <a:avLst/>
          </a:prstGeom>
          <a:noFill/>
          <a:ln/>
        </p:spPr>
        <p:txBody>
          <a:bodyPr wrap="square" lIns="0" tIns="0" rIns="0" bIns="0" rtlCol="0" anchor="ctr"/>
          <a:lstStyle/>
          <a:p>
            <a:pPr marL="0" indent="0">
              <a:buNone/>
            </a:pPr>
            <a:r>
              <a:rPr lang="en-US" sz="1150" b="1" dirty="0">
                <a:solidFill>
                  <a:srgbClr val="93C5FD"/>
                </a:solidFill>
                <a:latin typeface="Calibri" pitchFamily="34" charset="0"/>
                <a:ea typeface="Calibri" pitchFamily="34" charset="-122"/>
                <a:cs typeface="Calibri" pitchFamily="34" charset="-120"/>
              </a:rPr>
              <a:t>Planned Enhancements</a:t>
            </a:r>
            <a:endParaRPr lang="en-US" sz="1150" dirty="0"/>
          </a:p>
        </p:txBody>
      </p:sp>
      <p:sp>
        <p:nvSpPr>
          <p:cNvPr id="7" name="Shape 5"/>
          <p:cNvSpPr/>
          <p:nvPr/>
        </p:nvSpPr>
        <p:spPr>
          <a:xfrm>
            <a:off x="457200" y="1325880"/>
            <a:ext cx="1554480" cy="804672"/>
          </a:xfrm>
          <a:prstGeom prst="rect">
            <a:avLst/>
          </a:prstGeom>
          <a:solidFill>
            <a:srgbClr val="1E3A8A">
              <a:alpha val="80000"/>
            </a:srgbClr>
          </a:solidFill>
          <a:ln w="12700">
            <a:solidFill>
              <a:srgbClr val="2563EB"/>
            </a:solidFill>
            <a:prstDash val="solid"/>
          </a:ln>
        </p:spPr>
      </p:sp>
      <p:sp>
        <p:nvSpPr>
          <p:cNvPr id="8" name="Text 6"/>
          <p:cNvSpPr/>
          <p:nvPr/>
        </p:nvSpPr>
        <p:spPr>
          <a:xfrm>
            <a:off x="457200"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457200"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Payment Gateway</a:t>
            </a:r>
            <a:endParaRPr lang="en-US" sz="950" dirty="0"/>
          </a:p>
        </p:txBody>
      </p:sp>
      <p:sp>
        <p:nvSpPr>
          <p:cNvPr id="10" name="Shape 8"/>
          <p:cNvSpPr/>
          <p:nvPr/>
        </p:nvSpPr>
        <p:spPr>
          <a:xfrm>
            <a:off x="2157984" y="1325880"/>
            <a:ext cx="1554480" cy="804672"/>
          </a:xfrm>
          <a:prstGeom prst="rect">
            <a:avLst/>
          </a:prstGeom>
          <a:solidFill>
            <a:srgbClr val="1E3A8A">
              <a:alpha val="80000"/>
            </a:srgbClr>
          </a:solidFill>
          <a:ln w="12700">
            <a:solidFill>
              <a:srgbClr val="2563EB"/>
            </a:solidFill>
            <a:prstDash val="solid"/>
          </a:ln>
        </p:spPr>
      </p:sp>
      <p:sp>
        <p:nvSpPr>
          <p:cNvPr id="11" name="Text 9"/>
          <p:cNvSpPr/>
          <p:nvPr/>
        </p:nvSpPr>
        <p:spPr>
          <a:xfrm>
            <a:off x="2157984"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2157984"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Waitlist System</a:t>
            </a:r>
            <a:endParaRPr lang="en-US" sz="950" dirty="0"/>
          </a:p>
        </p:txBody>
      </p:sp>
      <p:sp>
        <p:nvSpPr>
          <p:cNvPr id="13" name="Shape 11"/>
          <p:cNvSpPr/>
          <p:nvPr/>
        </p:nvSpPr>
        <p:spPr>
          <a:xfrm>
            <a:off x="3858768" y="1325880"/>
            <a:ext cx="1554480" cy="804672"/>
          </a:xfrm>
          <a:prstGeom prst="rect">
            <a:avLst/>
          </a:prstGeom>
          <a:solidFill>
            <a:srgbClr val="1E3A8A">
              <a:alpha val="80000"/>
            </a:srgbClr>
          </a:solidFill>
          <a:ln w="12700">
            <a:solidFill>
              <a:srgbClr val="2563EB"/>
            </a:solidFill>
            <a:prstDash val="solid"/>
          </a:ln>
        </p:spPr>
      </p:sp>
      <p:sp>
        <p:nvSpPr>
          <p:cNvPr id="14" name="Text 12"/>
          <p:cNvSpPr/>
          <p:nvPr/>
        </p:nvSpPr>
        <p:spPr>
          <a:xfrm>
            <a:off x="3858768"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3858768"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Cloud Deployment</a:t>
            </a:r>
            <a:endParaRPr lang="en-US" sz="950" dirty="0"/>
          </a:p>
        </p:txBody>
      </p:sp>
      <p:sp>
        <p:nvSpPr>
          <p:cNvPr id="16" name="Shape 14"/>
          <p:cNvSpPr/>
          <p:nvPr/>
        </p:nvSpPr>
        <p:spPr>
          <a:xfrm>
            <a:off x="5559552" y="1325880"/>
            <a:ext cx="1554480" cy="804672"/>
          </a:xfrm>
          <a:prstGeom prst="rect">
            <a:avLst/>
          </a:prstGeom>
          <a:solidFill>
            <a:srgbClr val="1E3A8A">
              <a:alpha val="80000"/>
            </a:srgbClr>
          </a:solidFill>
          <a:ln w="12700">
            <a:solidFill>
              <a:srgbClr val="2563EB"/>
            </a:solidFill>
            <a:prstDash val="solid"/>
          </a:ln>
        </p:spPr>
      </p:sp>
      <p:sp>
        <p:nvSpPr>
          <p:cNvPr id="17" name="Text 15"/>
          <p:cNvSpPr/>
          <p:nvPr/>
        </p:nvSpPr>
        <p:spPr>
          <a:xfrm>
            <a:off x="5559552"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5559552"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Mobile App</a:t>
            </a:r>
            <a:endParaRPr lang="en-US" sz="950" dirty="0"/>
          </a:p>
        </p:txBody>
      </p:sp>
      <p:sp>
        <p:nvSpPr>
          <p:cNvPr id="19" name="Shape 17"/>
          <p:cNvSpPr/>
          <p:nvPr/>
        </p:nvSpPr>
        <p:spPr>
          <a:xfrm>
            <a:off x="7260336" y="1325880"/>
            <a:ext cx="1554480" cy="804672"/>
          </a:xfrm>
          <a:prstGeom prst="rect">
            <a:avLst/>
          </a:prstGeom>
          <a:solidFill>
            <a:srgbClr val="1E3A8A">
              <a:alpha val="80000"/>
            </a:srgbClr>
          </a:solidFill>
          <a:ln w="12700">
            <a:solidFill>
              <a:srgbClr val="2563EB"/>
            </a:solidFill>
            <a:prstDash val="solid"/>
          </a:ln>
        </p:spPr>
      </p:sp>
      <p:sp>
        <p:nvSpPr>
          <p:cNvPr id="20" name="Text 18"/>
          <p:cNvSpPr/>
          <p:nvPr/>
        </p:nvSpPr>
        <p:spPr>
          <a:xfrm>
            <a:off x="7260336" y="1353312"/>
            <a:ext cx="1554480"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7260336" y="1746504"/>
            <a:ext cx="1554480" cy="347472"/>
          </a:xfrm>
          <a:prstGeom prst="rect">
            <a:avLst/>
          </a:prstGeom>
          <a:noFill/>
          <a:ln/>
        </p:spPr>
        <p:txBody>
          <a:bodyPr wrap="square" lIns="0" tIns="0" rIns="0" bIns="0" rtlCol="0" anchor="ctr"/>
          <a:lstStyle/>
          <a:p>
            <a:pPr marL="0" indent="0" algn="ctr">
              <a:buNone/>
            </a:pPr>
            <a:r>
              <a:rPr lang="en-US" sz="950" b="1" dirty="0">
                <a:solidFill>
                  <a:srgbClr val="93C5FD"/>
                </a:solidFill>
                <a:latin typeface="Calibri" pitchFamily="34" charset="0"/>
                <a:ea typeface="Calibri" pitchFamily="34" charset="-122"/>
                <a:cs typeface="Calibri" pitchFamily="34" charset="-120"/>
              </a:rPr>
              <a:t>Analytics Dashboard</a:t>
            </a:r>
            <a:endParaRPr lang="en-US" sz="950" dirty="0"/>
          </a:p>
        </p:txBody>
      </p:sp>
      <p:sp>
        <p:nvSpPr>
          <p:cNvPr id="22" name="Text 20"/>
          <p:cNvSpPr/>
          <p:nvPr/>
        </p:nvSpPr>
        <p:spPr>
          <a:xfrm>
            <a:off x="457200" y="2331720"/>
            <a:ext cx="4572000" cy="292608"/>
          </a:xfrm>
          <a:prstGeom prst="rect">
            <a:avLst/>
          </a:prstGeom>
          <a:noFill/>
          <a:ln/>
        </p:spPr>
        <p:txBody>
          <a:bodyPr wrap="square" lIns="0" tIns="0" rIns="0" bIns="0" rtlCol="0" anchor="ctr"/>
          <a:lstStyle/>
          <a:p>
            <a:pPr marL="0" indent="0">
              <a:buNone/>
            </a:pPr>
            <a:r>
              <a:rPr lang="en-US" sz="1150" b="1" dirty="0">
                <a:solidFill>
                  <a:srgbClr val="93C5FD"/>
                </a:solidFill>
                <a:latin typeface="Calibri" pitchFamily="34" charset="0"/>
                <a:ea typeface="Calibri" pitchFamily="34" charset="-122"/>
                <a:cs typeface="Calibri" pitchFamily="34" charset="-120"/>
              </a:rPr>
              <a:t>Key Takeaways</a:t>
            </a:r>
            <a:endParaRPr lang="en-US" sz="1150" dirty="0"/>
          </a:p>
        </p:txBody>
      </p:sp>
      <p:sp>
        <p:nvSpPr>
          <p:cNvPr id="23" name="Shape 21"/>
          <p:cNvSpPr/>
          <p:nvPr/>
        </p:nvSpPr>
        <p:spPr>
          <a:xfrm>
            <a:off x="457200" y="2697480"/>
            <a:ext cx="4133088" cy="868680"/>
          </a:xfrm>
          <a:prstGeom prst="rect">
            <a:avLst/>
          </a:prstGeom>
          <a:solidFill>
            <a:srgbClr val="1E3A8A">
              <a:alpha val="85000"/>
            </a:srgbClr>
          </a:solidFill>
          <a:ln w="19050">
            <a:solidFill>
              <a:srgbClr val="0D9488"/>
            </a:solidFill>
            <a:prstDash val="solid"/>
          </a:ln>
        </p:spPr>
      </p:sp>
      <p:sp>
        <p:nvSpPr>
          <p:cNvPr id="24" name="Shape 22"/>
          <p:cNvSpPr/>
          <p:nvPr/>
        </p:nvSpPr>
        <p:spPr>
          <a:xfrm>
            <a:off x="457200" y="2697480"/>
            <a:ext cx="64008" cy="868680"/>
          </a:xfrm>
          <a:prstGeom prst="rect">
            <a:avLst/>
          </a:prstGeom>
          <a:solidFill>
            <a:srgbClr val="0D9488"/>
          </a:solidFill>
          <a:ln w="12700">
            <a:solidFill>
              <a:srgbClr val="0D9488"/>
            </a:solidFill>
            <a:prstDash val="solid"/>
          </a:ln>
        </p:spPr>
      </p:sp>
      <p:sp>
        <p:nvSpPr>
          <p:cNvPr id="25" name="Text 23"/>
          <p:cNvSpPr/>
          <p:nvPr/>
        </p:nvSpPr>
        <p:spPr>
          <a:xfrm>
            <a:off x="640080" y="2770632"/>
            <a:ext cx="384048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Modular Design</a:t>
            </a:r>
            <a:endParaRPr lang="en-US" sz="1250" dirty="0"/>
          </a:p>
        </p:txBody>
      </p:sp>
      <p:sp>
        <p:nvSpPr>
          <p:cNvPr id="26" name="Text 24"/>
          <p:cNvSpPr/>
          <p:nvPr/>
        </p:nvSpPr>
        <p:spPr>
          <a:xfrm>
            <a:off x="640080" y="3154680"/>
            <a:ext cx="3840480" cy="329184"/>
          </a:xfrm>
          <a:prstGeom prst="rect">
            <a:avLst/>
          </a:prstGeom>
          <a:noFill/>
          <a:ln/>
        </p:spPr>
        <p:txBody>
          <a:bodyPr wrap="square" lIns="0" tIns="0" rIns="0" bIns="0" rtlCol="0" anchor="ctr"/>
          <a:lstStyle/>
          <a:p>
            <a:pPr marL="0" indent="0">
              <a:buNone/>
            </a:pPr>
            <a:r>
              <a:rPr lang="en-US" sz="1050" dirty="0">
                <a:solidFill>
                  <a:srgbClr val="93C5FD"/>
                </a:solidFill>
                <a:latin typeface="Calibri" pitchFamily="34" charset="0"/>
                <a:ea typeface="Calibri" pitchFamily="34" charset="-122"/>
                <a:cs typeface="Calibri" pitchFamily="34" charset="-120"/>
              </a:rPr>
              <a:t>Clean separation of User, Booking and Admin modules</a:t>
            </a:r>
            <a:endParaRPr lang="en-US" sz="1050" dirty="0"/>
          </a:p>
        </p:txBody>
      </p:sp>
      <p:sp>
        <p:nvSpPr>
          <p:cNvPr id="27" name="Shape 25"/>
          <p:cNvSpPr/>
          <p:nvPr/>
        </p:nvSpPr>
        <p:spPr>
          <a:xfrm>
            <a:off x="4754880" y="2697480"/>
            <a:ext cx="4133088" cy="868680"/>
          </a:xfrm>
          <a:prstGeom prst="rect">
            <a:avLst/>
          </a:prstGeom>
          <a:solidFill>
            <a:srgbClr val="1E3A8A">
              <a:alpha val="85000"/>
            </a:srgbClr>
          </a:solidFill>
          <a:ln w="19050">
            <a:solidFill>
              <a:srgbClr val="2563EB"/>
            </a:solidFill>
            <a:prstDash val="solid"/>
          </a:ln>
        </p:spPr>
      </p:sp>
      <p:sp>
        <p:nvSpPr>
          <p:cNvPr id="28" name="Shape 26"/>
          <p:cNvSpPr/>
          <p:nvPr/>
        </p:nvSpPr>
        <p:spPr>
          <a:xfrm>
            <a:off x="4754880" y="2697480"/>
            <a:ext cx="64008" cy="868680"/>
          </a:xfrm>
          <a:prstGeom prst="rect">
            <a:avLst/>
          </a:prstGeom>
          <a:solidFill>
            <a:srgbClr val="2563EB"/>
          </a:solidFill>
          <a:ln w="12700">
            <a:solidFill>
              <a:srgbClr val="2563EB"/>
            </a:solidFill>
            <a:prstDash val="solid"/>
          </a:ln>
        </p:spPr>
      </p:sp>
      <p:sp>
        <p:nvSpPr>
          <p:cNvPr id="29" name="Text 27"/>
          <p:cNvSpPr/>
          <p:nvPr/>
        </p:nvSpPr>
        <p:spPr>
          <a:xfrm>
            <a:off x="4937760" y="2770632"/>
            <a:ext cx="384048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Secure by Default</a:t>
            </a:r>
            <a:endParaRPr lang="en-US" sz="1250" dirty="0"/>
          </a:p>
        </p:txBody>
      </p:sp>
      <p:sp>
        <p:nvSpPr>
          <p:cNvPr id="30" name="Text 28"/>
          <p:cNvSpPr/>
          <p:nvPr/>
        </p:nvSpPr>
        <p:spPr>
          <a:xfrm>
            <a:off x="4937760" y="3154680"/>
            <a:ext cx="3840480" cy="329184"/>
          </a:xfrm>
          <a:prstGeom prst="rect">
            <a:avLst/>
          </a:prstGeom>
          <a:noFill/>
          <a:ln/>
        </p:spPr>
        <p:txBody>
          <a:bodyPr wrap="square" lIns="0" tIns="0" rIns="0" bIns="0" rtlCol="0" anchor="ctr"/>
          <a:lstStyle/>
          <a:p>
            <a:pPr marL="0" indent="0">
              <a:buNone/>
            </a:pPr>
            <a:r>
              <a:rPr lang="en-US" sz="1050" dirty="0">
                <a:solidFill>
                  <a:srgbClr val="93C5FD"/>
                </a:solidFill>
                <a:latin typeface="Calibri" pitchFamily="34" charset="0"/>
                <a:ea typeface="Calibri" pitchFamily="34" charset="-122"/>
                <a:cs typeface="Calibri" pitchFamily="34" charset="-120"/>
              </a:rPr>
              <a:t>OTP auth, CSRF protection, role-based access &amp; sessions</a:t>
            </a:r>
            <a:endParaRPr lang="en-US" sz="1050" dirty="0"/>
          </a:p>
        </p:txBody>
      </p:sp>
      <p:sp>
        <p:nvSpPr>
          <p:cNvPr id="31" name="Shape 29"/>
          <p:cNvSpPr/>
          <p:nvPr/>
        </p:nvSpPr>
        <p:spPr>
          <a:xfrm>
            <a:off x="457200" y="3685032"/>
            <a:ext cx="4133088" cy="868680"/>
          </a:xfrm>
          <a:prstGeom prst="rect">
            <a:avLst/>
          </a:prstGeom>
          <a:solidFill>
            <a:srgbClr val="1E3A8A">
              <a:alpha val="85000"/>
            </a:srgbClr>
          </a:solidFill>
          <a:ln w="19050">
            <a:solidFill>
              <a:srgbClr val="F59E0B"/>
            </a:solidFill>
            <a:prstDash val="solid"/>
          </a:ln>
        </p:spPr>
      </p:sp>
      <p:sp>
        <p:nvSpPr>
          <p:cNvPr id="32" name="Shape 30"/>
          <p:cNvSpPr/>
          <p:nvPr/>
        </p:nvSpPr>
        <p:spPr>
          <a:xfrm>
            <a:off x="457200" y="3685032"/>
            <a:ext cx="64008" cy="868680"/>
          </a:xfrm>
          <a:prstGeom prst="rect">
            <a:avLst/>
          </a:prstGeom>
          <a:solidFill>
            <a:srgbClr val="F59E0B"/>
          </a:solidFill>
          <a:ln w="12700">
            <a:solidFill>
              <a:srgbClr val="F59E0B"/>
            </a:solidFill>
            <a:prstDash val="solid"/>
          </a:ln>
        </p:spPr>
      </p:sp>
      <p:sp>
        <p:nvSpPr>
          <p:cNvPr id="33" name="Text 31"/>
          <p:cNvSpPr/>
          <p:nvPr/>
        </p:nvSpPr>
        <p:spPr>
          <a:xfrm>
            <a:off x="640080" y="3758184"/>
            <a:ext cx="384048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Real-World Logic</a:t>
            </a:r>
            <a:endParaRPr lang="en-US" sz="1250" dirty="0"/>
          </a:p>
        </p:txBody>
      </p:sp>
      <p:sp>
        <p:nvSpPr>
          <p:cNvPr id="34" name="Text 32"/>
          <p:cNvSpPr/>
          <p:nvPr/>
        </p:nvSpPr>
        <p:spPr>
          <a:xfrm>
            <a:off x="640080" y="4142232"/>
            <a:ext cx="3840480" cy="329184"/>
          </a:xfrm>
          <a:prstGeom prst="rect">
            <a:avLst/>
          </a:prstGeom>
          <a:noFill/>
          <a:ln/>
        </p:spPr>
        <p:txBody>
          <a:bodyPr wrap="square" lIns="0" tIns="0" rIns="0" bIns="0" rtlCol="0" anchor="ctr"/>
          <a:lstStyle/>
          <a:p>
            <a:pPr marL="0" indent="0">
              <a:buNone/>
            </a:pPr>
            <a:r>
              <a:rPr lang="en-US" sz="1050" dirty="0">
                <a:solidFill>
                  <a:srgbClr val="93C5FD"/>
                </a:solidFill>
                <a:latin typeface="Calibri" pitchFamily="34" charset="0"/>
                <a:ea typeface="Calibri" pitchFamily="34" charset="-122"/>
                <a:cs typeface="Calibri" pitchFamily="34" charset="-120"/>
              </a:rPr>
              <a:t>Date validation, seat management, PNR system &amp; more</a:t>
            </a:r>
            <a:endParaRPr lang="en-US" sz="1050" dirty="0"/>
          </a:p>
        </p:txBody>
      </p:sp>
      <p:sp>
        <p:nvSpPr>
          <p:cNvPr id="35" name="Shape 33"/>
          <p:cNvSpPr/>
          <p:nvPr/>
        </p:nvSpPr>
        <p:spPr>
          <a:xfrm>
            <a:off x="4754880" y="3685032"/>
            <a:ext cx="4133088" cy="868680"/>
          </a:xfrm>
          <a:prstGeom prst="rect">
            <a:avLst/>
          </a:prstGeom>
          <a:solidFill>
            <a:srgbClr val="1E3A8A">
              <a:alpha val="85000"/>
            </a:srgbClr>
          </a:solidFill>
          <a:ln w="19050">
            <a:solidFill>
              <a:srgbClr val="8B5CF6"/>
            </a:solidFill>
            <a:prstDash val="solid"/>
          </a:ln>
        </p:spPr>
      </p:sp>
      <p:sp>
        <p:nvSpPr>
          <p:cNvPr id="36" name="Shape 34"/>
          <p:cNvSpPr/>
          <p:nvPr/>
        </p:nvSpPr>
        <p:spPr>
          <a:xfrm>
            <a:off x="4754880" y="3685032"/>
            <a:ext cx="64008" cy="868680"/>
          </a:xfrm>
          <a:prstGeom prst="rect">
            <a:avLst/>
          </a:prstGeom>
          <a:solidFill>
            <a:srgbClr val="8B5CF6"/>
          </a:solidFill>
          <a:ln w="12700">
            <a:solidFill>
              <a:srgbClr val="8B5CF6"/>
            </a:solidFill>
            <a:prstDash val="solid"/>
          </a:ln>
        </p:spPr>
      </p:sp>
      <p:sp>
        <p:nvSpPr>
          <p:cNvPr id="37" name="Text 35"/>
          <p:cNvSpPr/>
          <p:nvPr/>
        </p:nvSpPr>
        <p:spPr>
          <a:xfrm>
            <a:off x="4937760" y="3758184"/>
            <a:ext cx="384048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Future-Ready</a:t>
            </a:r>
            <a:endParaRPr lang="en-US" sz="1250" dirty="0"/>
          </a:p>
        </p:txBody>
      </p:sp>
      <p:sp>
        <p:nvSpPr>
          <p:cNvPr id="38" name="Text 36"/>
          <p:cNvSpPr/>
          <p:nvPr/>
        </p:nvSpPr>
        <p:spPr>
          <a:xfrm>
            <a:off x="4937760" y="4142232"/>
            <a:ext cx="3840480" cy="329184"/>
          </a:xfrm>
          <a:prstGeom prst="rect">
            <a:avLst/>
          </a:prstGeom>
          <a:noFill/>
          <a:ln/>
        </p:spPr>
        <p:txBody>
          <a:bodyPr wrap="square" lIns="0" tIns="0" rIns="0" bIns="0" rtlCol="0" anchor="ctr"/>
          <a:lstStyle/>
          <a:p>
            <a:pPr marL="0" indent="0">
              <a:buNone/>
            </a:pPr>
            <a:r>
              <a:rPr lang="en-US" sz="1050" dirty="0">
                <a:solidFill>
                  <a:srgbClr val="93C5FD"/>
                </a:solidFill>
                <a:latin typeface="Calibri" pitchFamily="34" charset="0"/>
                <a:ea typeface="Calibri" pitchFamily="34" charset="-122"/>
                <a:cs typeface="Calibri" pitchFamily="34" charset="-120"/>
              </a:rPr>
              <a:t>Scalable base for payments, cloud deployment &amp; mobile</a:t>
            </a:r>
            <a:endParaRPr lang="en-US" sz="1050" dirty="0"/>
          </a:p>
        </p:txBody>
      </p:sp>
      <p:sp>
        <p:nvSpPr>
          <p:cNvPr id="39" name="Shape 37"/>
          <p:cNvSpPr/>
          <p:nvPr/>
        </p:nvSpPr>
        <p:spPr>
          <a:xfrm>
            <a:off x="0" y="4709160"/>
            <a:ext cx="9144000" cy="434340"/>
          </a:xfrm>
          <a:prstGeom prst="rect">
            <a:avLst/>
          </a:prstGeom>
          <a:solidFill>
            <a:srgbClr val="111827"/>
          </a:solidFill>
          <a:ln w="12700">
            <a:solidFill>
              <a:srgbClr val="111827"/>
            </a:solidFill>
            <a:prstDash val="solid"/>
          </a:ln>
        </p:spPr>
      </p:sp>
      <p:sp>
        <p:nvSpPr>
          <p:cNvPr id="40" name="Text 38"/>
          <p:cNvSpPr/>
          <p:nvPr/>
        </p:nvSpPr>
        <p:spPr>
          <a:xfrm>
            <a:off x="0" y="4745736"/>
            <a:ext cx="9144000" cy="347472"/>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RailConnect  ·  Django  ·  Python  ·  Secure by Design  ·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1719</Words>
  <Application>Microsoft Office PowerPoint</Application>
  <PresentationFormat>On-screen Show (16:9)</PresentationFormat>
  <Paragraphs>345</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RailConnect – Smart Train Reservation System</dc:title>
  <dc:subject>PptxGenJS Presentation</dc:subject>
  <dc:creator>PptxGenJS</dc:creator>
  <cp:lastModifiedBy>DSN Abhinav Devarasetty</cp:lastModifiedBy>
  <cp:revision>3</cp:revision>
  <dcterms:created xsi:type="dcterms:W3CDTF">2026-02-20T09:08:20Z</dcterms:created>
  <dcterms:modified xsi:type="dcterms:W3CDTF">2026-02-24T18:36:20Z</dcterms:modified>
</cp:coreProperties>
</file>